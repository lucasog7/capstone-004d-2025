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arlow 1 Bold" charset="1" panose="00000800000000000000"/>
      <p:regular r:id="rId20"/>
    </p:embeddedFont>
    <p:embeddedFont>
      <p:font typeface="Barlow 1" charset="1" panose="00000500000000000000"/>
      <p:regular r:id="rId21"/>
    </p:embeddedFont>
    <p:embeddedFont>
      <p:font typeface="Barlow 2 Bold" charset="1" panose="00000800000000000000"/>
      <p:regular r:id="rId22"/>
    </p:embeddedFont>
    <p:embeddedFont>
      <p:font typeface="Barlow 2" charset="1" panose="00000500000000000000"/>
      <p:regular r:id="rId23"/>
    </p:embeddedFont>
    <p:embeddedFont>
      <p:font typeface="Barlow 1 Medium" charset="1" panose="00000600000000000000"/>
      <p:regular r:id="rId24"/>
    </p:embeddedFont>
    <p:embeddedFont>
      <p:font typeface="Proxima Nova Condensed Bold" charset="1" panose="02000506030000020004"/>
      <p:regular r:id="rId25"/>
    </p:embeddedFont>
    <p:embeddedFont>
      <p:font typeface="Barlow SemiCondensed Bold" charset="1" panose="00000806000000000000"/>
      <p:regular r:id="rId26"/>
    </p:embeddedFont>
    <p:embeddedFont>
      <p:font typeface="Barlow SemiCondensed Medium" charset="1" panose="00000606000000000000"/>
      <p:regular r:id="rId27"/>
    </p:embeddedFont>
    <p:embeddedFont>
      <p:font typeface="Clear Sans" charset="1" panose="020B0503030202020304"/>
      <p:regular r:id="rId28"/>
    </p:embeddedFont>
    <p:embeddedFont>
      <p:font typeface="Proxima Nova Condensed Italics" charset="1" panose="02000506030000020004"/>
      <p:regular r:id="rId29"/>
    </p:embeddedFont>
    <p:embeddedFont>
      <p:font typeface="Anton" charset="1" panose="00000500000000000000"/>
      <p:regular r:id="rId30"/>
    </p:embeddedFont>
    <p:embeddedFont>
      <p:font typeface="Barlow 2 Ultra-Bold" charset="1" panose="00000900000000000000"/>
      <p:regular r:id="rId31"/>
    </p:embeddedFont>
    <p:embeddedFont>
      <p:font typeface="Barlow 2 Italics" charset="1" panose="00000500000000000000"/>
      <p:regular r:id="rId32"/>
    </p:embeddedFont>
    <p:embeddedFont>
      <p:font typeface="Canva Sans Bold" charset="1" panose="020B0803030501040103"/>
      <p:regular r:id="rId33"/>
    </p:embeddedFont>
    <p:embeddedFont>
      <p:font typeface="Canva Sans" charset="1" panose="020B0503030501040103"/>
      <p:regular r:id="rId34"/>
    </p:embeddedFont>
    <p:embeddedFont>
      <p:font typeface="Open Sans" charset="1" panose="020B0606030504020204"/>
      <p:regular r:id="rId35"/>
    </p:embeddedFont>
    <p:embeddedFont>
      <p:font typeface="Touvlo" charset="1" panose="020B0604030403020204"/>
      <p:regular r:id="rId36"/>
    </p:embeddedFont>
    <p:embeddedFont>
      <p:font typeface="TT Interphases" charset="1" panose="02000503020000020004"/>
      <p:regular r:id="rId37"/>
    </p:embeddedFont>
    <p:embeddedFont>
      <p:font typeface="TT Norms Bold" charset="1" panose="02000803030000020004"/>
      <p:regular r:id="rId38"/>
    </p:embeddedFont>
    <p:embeddedFont>
      <p:font typeface="Avenir Bold" charset="1" panose="020B0703020203020204"/>
      <p:regular r:id="rId39"/>
    </p:embeddedFont>
    <p:embeddedFont>
      <p:font typeface="Avenir" charset="1" panose="020B0503020203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jpeg" Type="http://schemas.openxmlformats.org/officeDocument/2006/relationships/image"/><Relationship Id="rId15" Target="../media/image38.jpeg" Type="http://schemas.openxmlformats.org/officeDocument/2006/relationships/image"/><Relationship Id="rId16" Target="../media/image39.jpeg" Type="http://schemas.openxmlformats.org/officeDocument/2006/relationships/image"/><Relationship Id="rId17" Target="../media/image4.png" Type="http://schemas.openxmlformats.org/officeDocument/2006/relationships/image"/><Relationship Id="rId18" Target="../media/image5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16" Target="../media/image52.png" Type="http://schemas.openxmlformats.org/officeDocument/2006/relationships/image"/><Relationship Id="rId17" Target="../media/image53.sv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40.png" Type="http://schemas.openxmlformats.org/officeDocument/2006/relationships/image"/><Relationship Id="rId20" Target="../media/image56.svg" Type="http://schemas.openxmlformats.org/officeDocument/2006/relationships/image"/><Relationship Id="rId21" Target="../media/image4.png" Type="http://schemas.openxmlformats.org/officeDocument/2006/relationships/image"/><Relationship Id="rId22" Target="../media/image5.sv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jpeg" Type="http://schemas.openxmlformats.org/officeDocument/2006/relationships/image"/><Relationship Id="rId3" Target="../media/VAG6Z5ZuFEI.mp4" Type="http://schemas.openxmlformats.org/officeDocument/2006/relationships/video"/><Relationship Id="rId4" Target="../media/VAG6Z5ZuFEI.mp4" Type="http://schemas.microsoft.com/office/2007/relationships/media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6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12" Target="../media/image77.png" Type="http://schemas.openxmlformats.org/officeDocument/2006/relationships/image"/><Relationship Id="rId13" Target="../media/image78.svg" Type="http://schemas.openxmlformats.org/officeDocument/2006/relationships/image"/><Relationship Id="rId14" Target="../media/image79.png" Type="http://schemas.openxmlformats.org/officeDocument/2006/relationships/image"/><Relationship Id="rId15" Target="../media/image80.svg" Type="http://schemas.openxmlformats.org/officeDocument/2006/relationships/image"/><Relationship Id="rId16" Target="../media/image4.png" Type="http://schemas.openxmlformats.org/officeDocument/2006/relationships/image"/><Relationship Id="rId17" Target="../media/image5.svg" Type="http://schemas.openxmlformats.org/officeDocument/2006/relationships/image"/><Relationship Id="rId18" Target="../media/image81.png" Type="http://schemas.openxmlformats.org/officeDocument/2006/relationships/image"/><Relationship Id="rId19" Target="../media/image82.svg" Type="http://schemas.openxmlformats.org/officeDocument/2006/relationships/image"/><Relationship Id="rId2" Target="../media/image67.png" Type="http://schemas.openxmlformats.org/officeDocument/2006/relationships/image"/><Relationship Id="rId20" Target="../media/image83.png" Type="http://schemas.openxmlformats.org/officeDocument/2006/relationships/image"/><Relationship Id="rId21" Target="../media/image84.svg" Type="http://schemas.openxmlformats.org/officeDocument/2006/relationships/image"/><Relationship Id="rId22" Target="../media/image6.png" Type="http://schemas.openxmlformats.org/officeDocument/2006/relationships/image"/><Relationship Id="rId23" Target="../media/image7.svg" Type="http://schemas.openxmlformats.org/officeDocument/2006/relationships/image"/><Relationship Id="rId24" Target="../media/image85.png" Type="http://schemas.openxmlformats.org/officeDocument/2006/relationships/image"/><Relationship Id="rId25" Target="../media/image86.svg" Type="http://schemas.openxmlformats.org/officeDocument/2006/relationships/image"/><Relationship Id="rId26" Target="../media/image87.png" Type="http://schemas.openxmlformats.org/officeDocument/2006/relationships/image"/><Relationship Id="rId27" Target="../media/image88.svg" Type="http://schemas.openxmlformats.org/officeDocument/2006/relationships/image"/><Relationship Id="rId28" Target="../media/image89.png" Type="http://schemas.openxmlformats.org/officeDocument/2006/relationships/image"/><Relationship Id="rId29" Target="../media/image90.svg" Type="http://schemas.openxmlformats.org/officeDocument/2006/relationships/image"/><Relationship Id="rId3" Target="../media/image68.svg" Type="http://schemas.openxmlformats.org/officeDocument/2006/relationships/image"/><Relationship Id="rId30" Target="../media/image91.png" Type="http://schemas.openxmlformats.org/officeDocument/2006/relationships/image"/><Relationship Id="rId31" Target="../media/image92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svg" Type="http://schemas.openxmlformats.org/officeDocument/2006/relationships/image"/><Relationship Id="rId12" Target="../media/image99.png" Type="http://schemas.openxmlformats.org/officeDocument/2006/relationships/image"/><Relationship Id="rId13" Target="../media/image100.svg" Type="http://schemas.openxmlformats.org/officeDocument/2006/relationships/image"/><Relationship Id="rId14" Target="../media/image101.png" Type="http://schemas.openxmlformats.org/officeDocument/2006/relationships/image"/><Relationship Id="rId15" Target="../media/image102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2" Target="../media/image93.png" Type="http://schemas.openxmlformats.org/officeDocument/2006/relationships/image"/><Relationship Id="rId3" Target="../media/image94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108.png" Type="http://schemas.openxmlformats.org/officeDocument/2006/relationships/image"/><Relationship Id="rId14" Target="../media/image109.svg" Type="http://schemas.openxmlformats.org/officeDocument/2006/relationships/image"/><Relationship Id="rId15" Target="../media/image6.png" Type="http://schemas.openxmlformats.org/officeDocument/2006/relationships/image"/><Relationship Id="rId16" Target="../media/image7.svg" Type="http://schemas.openxmlformats.org/officeDocument/2006/relationships/image"/><Relationship Id="rId17" Target="../media/image110.png" Type="http://schemas.openxmlformats.org/officeDocument/2006/relationships/image"/><Relationship Id="rId18" Target="../media/image111.svg" Type="http://schemas.openxmlformats.org/officeDocument/2006/relationships/image"/><Relationship Id="rId19" Target="../media/image112.png" Type="http://schemas.openxmlformats.org/officeDocument/2006/relationships/image"/><Relationship Id="rId2" Target="../media/image4.png" Type="http://schemas.openxmlformats.org/officeDocument/2006/relationships/image"/><Relationship Id="rId20" Target="../media/image113.svg" Type="http://schemas.openxmlformats.org/officeDocument/2006/relationships/image"/><Relationship Id="rId21" Target="../media/image114.png" Type="http://schemas.openxmlformats.org/officeDocument/2006/relationships/image"/><Relationship Id="rId22" Target="../media/image115.svg" Type="http://schemas.openxmlformats.org/officeDocument/2006/relationships/image"/><Relationship Id="rId23" Target="../media/image116.png" Type="http://schemas.openxmlformats.org/officeDocument/2006/relationships/image"/><Relationship Id="rId24" Target="../media/image117.svg" Type="http://schemas.openxmlformats.org/officeDocument/2006/relationships/image"/><Relationship Id="rId3" Target="../media/image5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sv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jpeg" Type="http://schemas.openxmlformats.org/officeDocument/2006/relationships/image"/><Relationship Id="rId11" Target="../media/image125.jpeg" Type="http://schemas.openxmlformats.org/officeDocument/2006/relationships/image"/><Relationship Id="rId12" Target="../media/image126.png" Type="http://schemas.openxmlformats.org/officeDocument/2006/relationships/image"/><Relationship Id="rId13" Target="../media/image127.svg" Type="http://schemas.openxmlformats.org/officeDocument/2006/relationships/image"/><Relationship Id="rId2" Target="../media/image118.jpeg" Type="http://schemas.openxmlformats.org/officeDocument/2006/relationships/image"/><Relationship Id="rId3" Target="../media/image119.jpeg" Type="http://schemas.openxmlformats.org/officeDocument/2006/relationships/image"/><Relationship Id="rId4" Target="../media/image120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1.jpeg" Type="http://schemas.openxmlformats.org/officeDocument/2006/relationships/image"/><Relationship Id="rId8" Target="../media/image122.jpeg" Type="http://schemas.openxmlformats.org/officeDocument/2006/relationships/image"/><Relationship Id="rId9" Target="../media/image12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4.jpe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2" Target="../media/image128.png" Type="http://schemas.openxmlformats.org/officeDocument/2006/relationships/image"/><Relationship Id="rId3" Target="../media/image129.svg" Type="http://schemas.openxmlformats.org/officeDocument/2006/relationships/image"/><Relationship Id="rId4" Target="../media/image130.png" Type="http://schemas.openxmlformats.org/officeDocument/2006/relationships/image"/><Relationship Id="rId5" Target="../media/image131.svg" Type="http://schemas.openxmlformats.org/officeDocument/2006/relationships/image"/><Relationship Id="rId6" Target="../media/image132.jpe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3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0.svg" Type="http://schemas.openxmlformats.org/officeDocument/2006/relationships/image"/><Relationship Id="rId11" Target="../media/image141.png" Type="http://schemas.openxmlformats.org/officeDocument/2006/relationships/image"/><Relationship Id="rId12" Target="../media/image142.svg" Type="http://schemas.openxmlformats.org/officeDocument/2006/relationships/image"/><Relationship Id="rId13" Target="../media/image143.png" Type="http://schemas.openxmlformats.org/officeDocument/2006/relationships/image"/><Relationship Id="rId2" Target="../media/image135.pn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136.png" Type="http://schemas.openxmlformats.org/officeDocument/2006/relationships/image"/><Relationship Id="rId7" Target="../media/image137.svg" Type="http://schemas.openxmlformats.org/officeDocument/2006/relationships/image"/><Relationship Id="rId8" Target="../media/image138.png" Type="http://schemas.openxmlformats.org/officeDocument/2006/relationships/image"/><Relationship Id="rId9" Target="../media/image1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7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5600" y="1681357"/>
            <a:ext cx="6962400" cy="7483965"/>
            <a:chOff x="0" y="0"/>
            <a:chExt cx="1060459" cy="1139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459" cy="1139900"/>
            </a:xfrm>
            <a:custGeom>
              <a:avLst/>
              <a:gdLst/>
              <a:ahLst/>
              <a:cxnLst/>
              <a:rect r="r" b="b" t="t" l="l"/>
              <a:pathLst>
                <a:path h="1139900" w="1060459">
                  <a:moveTo>
                    <a:pt x="0" y="0"/>
                  </a:moveTo>
                  <a:lnTo>
                    <a:pt x="1060459" y="0"/>
                  </a:lnTo>
                  <a:lnTo>
                    <a:pt x="1060459" y="1139900"/>
                  </a:lnTo>
                  <a:lnTo>
                    <a:pt x="0" y="1139900"/>
                  </a:lnTo>
                  <a:close/>
                </a:path>
              </a:pathLst>
            </a:custGeom>
            <a:blipFill>
              <a:blip r:embed="rId2"/>
              <a:stretch>
                <a:fillRect l="-3745" t="0" r="-374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5885920"/>
            <a:ext cx="13732956" cy="17263903"/>
            <a:chOff x="0" y="0"/>
            <a:chExt cx="18310608" cy="23018538"/>
          </a:xfrm>
        </p:grpSpPr>
        <p:sp>
          <p:nvSpPr>
            <p:cNvPr name="AutoShape 5" id="5"/>
            <p:cNvSpPr/>
            <p:nvPr/>
          </p:nvSpPr>
          <p:spPr>
            <a:xfrm rot="0">
              <a:off x="0" y="7847894"/>
              <a:ext cx="14250739" cy="13716000"/>
            </a:xfrm>
            <a:prstGeom prst="rect">
              <a:avLst/>
            </a:prstGeom>
            <a:solidFill>
              <a:srgbClr val="F2BC19">
                <a:alpha val="0"/>
              </a:srgbClr>
            </a:solidFill>
          </p:spPr>
        </p:sp>
        <p:sp>
          <p:nvSpPr>
            <p:cNvPr name="AutoShape 6" id="6"/>
            <p:cNvSpPr/>
            <p:nvPr/>
          </p:nvSpPr>
          <p:spPr>
            <a:xfrm rot="-782927">
              <a:off x="9329737" y="387414"/>
              <a:ext cx="5975721" cy="22243709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</p:sp>
        <p:sp>
          <p:nvSpPr>
            <p:cNvPr name="AutoShape 7" id="7"/>
            <p:cNvSpPr/>
            <p:nvPr/>
          </p:nvSpPr>
          <p:spPr>
            <a:xfrm rot="-782927">
              <a:off x="15801997" y="6526202"/>
              <a:ext cx="732723" cy="15814892"/>
            </a:xfrm>
            <a:prstGeom prst="rect">
              <a:avLst/>
            </a:prstGeom>
            <a:solidFill>
              <a:srgbClr val="231F2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true" flipV="true" rot="-893963">
            <a:off x="-1036474" y="-1326447"/>
            <a:ext cx="10948362" cy="3941410"/>
          </a:xfrm>
          <a:custGeom>
            <a:avLst/>
            <a:gdLst/>
            <a:ahLst/>
            <a:cxnLst/>
            <a:rect r="r" b="b" t="t" l="l"/>
            <a:pathLst>
              <a:path h="3941410" w="10948362">
                <a:moveTo>
                  <a:pt x="10948363" y="3941411"/>
                </a:moveTo>
                <a:lnTo>
                  <a:pt x="0" y="3941411"/>
                </a:lnTo>
                <a:lnTo>
                  <a:pt x="0" y="0"/>
                </a:lnTo>
                <a:lnTo>
                  <a:pt x="10948363" y="0"/>
                </a:lnTo>
                <a:lnTo>
                  <a:pt x="10948363" y="394141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7236939">
            <a:off x="-2304081" y="-1064958"/>
            <a:ext cx="4848840" cy="3418432"/>
          </a:xfrm>
          <a:custGeom>
            <a:avLst/>
            <a:gdLst/>
            <a:ahLst/>
            <a:cxnLst/>
            <a:rect r="r" b="b" t="t" l="l"/>
            <a:pathLst>
              <a:path h="3418432" w="4848840">
                <a:moveTo>
                  <a:pt x="0" y="0"/>
                </a:moveTo>
                <a:lnTo>
                  <a:pt x="4848839" y="0"/>
                </a:lnTo>
                <a:lnTo>
                  <a:pt x="4848839" y="3418432"/>
                </a:lnTo>
                <a:lnTo>
                  <a:pt x="0" y="34184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6870806">
            <a:off x="7483755" y="-1539548"/>
            <a:ext cx="4536540" cy="3198261"/>
          </a:xfrm>
          <a:custGeom>
            <a:avLst/>
            <a:gdLst/>
            <a:ahLst/>
            <a:cxnLst/>
            <a:rect r="r" b="b" t="t" l="l"/>
            <a:pathLst>
              <a:path h="3198261" w="4536540">
                <a:moveTo>
                  <a:pt x="4536540" y="0"/>
                </a:moveTo>
                <a:lnTo>
                  <a:pt x="0" y="0"/>
                </a:lnTo>
                <a:lnTo>
                  <a:pt x="0" y="3198260"/>
                </a:lnTo>
                <a:lnTo>
                  <a:pt x="4536540" y="3198260"/>
                </a:lnTo>
                <a:lnTo>
                  <a:pt x="453654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679231">
            <a:off x="10149264" y="8808266"/>
            <a:ext cx="3297412" cy="2324676"/>
          </a:xfrm>
          <a:custGeom>
            <a:avLst/>
            <a:gdLst/>
            <a:ahLst/>
            <a:cxnLst/>
            <a:rect r="r" b="b" t="t" l="l"/>
            <a:pathLst>
              <a:path h="2324676" w="3297412">
                <a:moveTo>
                  <a:pt x="0" y="0"/>
                </a:moveTo>
                <a:lnTo>
                  <a:pt x="3297413" y="0"/>
                </a:lnTo>
                <a:lnTo>
                  <a:pt x="3297413" y="2324676"/>
                </a:lnTo>
                <a:lnTo>
                  <a:pt x="0" y="2324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862744" y="8639522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1" y="0"/>
                </a:lnTo>
                <a:lnTo>
                  <a:pt x="7300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83577" y="-2433443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60049" y="3110949"/>
            <a:ext cx="10165422" cy="5122078"/>
            <a:chOff x="0" y="0"/>
            <a:chExt cx="13553896" cy="682943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76200"/>
              <a:ext cx="13553896" cy="3190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240"/>
                </a:lnSpc>
              </a:pPr>
              <a:r>
                <a:rPr lang="en-US" b="true" sz="8400">
                  <a:solidFill>
                    <a:srgbClr val="141313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Proyecto </a:t>
              </a:r>
            </a:p>
            <a:p>
              <a:pPr algn="ctr" marL="0" indent="0" lvl="0">
                <a:lnSpc>
                  <a:spcPts val="9240"/>
                </a:lnSpc>
              </a:pPr>
              <a:r>
                <a:rPr lang="en-US" b="true" sz="8400">
                  <a:solidFill>
                    <a:srgbClr val="141313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MyGoalFinance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775284" y="3935878"/>
              <a:ext cx="4308692" cy="2893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b="true" sz="2497">
                  <a:solidFill>
                    <a:srgbClr val="000000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Autores:</a:t>
              </a:r>
            </a:p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Lucas Riffo</a:t>
              </a:r>
            </a:p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Alfredo Muñoz</a:t>
              </a:r>
            </a:p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Luis Alarcón</a:t>
              </a:r>
            </a:p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Benjamín Pérez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083976" y="3897778"/>
              <a:ext cx="5694636" cy="2309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6"/>
                </a:lnSpc>
              </a:pPr>
              <a:r>
                <a:rPr lang="en-US" b="true" sz="2497">
                  <a:solidFill>
                    <a:srgbClr val="000000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Docente</a:t>
              </a: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:</a:t>
              </a:r>
            </a:p>
            <a:p>
              <a:pPr algn="just">
                <a:lnSpc>
                  <a:spcPts val="3496"/>
                </a:lnSpc>
              </a:pPr>
              <a:r>
                <a:rPr lang="en-US" sz="2497" strike="noStrike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Aldo</a:t>
              </a: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 Alberto Martínez Órdenes</a:t>
              </a:r>
            </a:p>
            <a:p>
              <a:pPr algn="just">
                <a:lnSpc>
                  <a:spcPts val="3496"/>
                </a:lnSpc>
              </a:pPr>
              <a:r>
                <a:rPr lang="en-US" b="true" sz="2497">
                  <a:solidFill>
                    <a:srgbClr val="000000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Carrera</a:t>
              </a: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: </a:t>
              </a:r>
            </a:p>
            <a:p>
              <a:pPr algn="just">
                <a:lnSpc>
                  <a:spcPts val="3496"/>
                </a:lnSpc>
              </a:pPr>
              <a:r>
                <a:rPr lang="en-US" sz="2497">
                  <a:solidFill>
                    <a:srgbClr val="000000"/>
                  </a:solidFill>
                  <a:latin typeface="Barlow 1"/>
                  <a:ea typeface="Barlow 1"/>
                  <a:cs typeface="Barlow 1"/>
                  <a:sym typeface="Barlow 1"/>
                </a:rPr>
                <a:t>Ingeniería en Informática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63013" y="4509421"/>
            <a:ext cx="6524987" cy="5777579"/>
          </a:xfrm>
          <a:custGeom>
            <a:avLst/>
            <a:gdLst/>
            <a:ahLst/>
            <a:cxnLst/>
            <a:rect r="r" b="b" t="t" l="l"/>
            <a:pathLst>
              <a:path h="5777579" w="6524987">
                <a:moveTo>
                  <a:pt x="0" y="0"/>
                </a:moveTo>
                <a:lnTo>
                  <a:pt x="6524987" y="0"/>
                </a:lnTo>
                <a:lnTo>
                  <a:pt x="6524987" y="5777579"/>
                </a:lnTo>
                <a:lnTo>
                  <a:pt x="0" y="5777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37537" y="3194173"/>
            <a:ext cx="6794206" cy="6556408"/>
          </a:xfrm>
          <a:custGeom>
            <a:avLst/>
            <a:gdLst/>
            <a:ahLst/>
            <a:cxnLst/>
            <a:rect r="r" b="b" t="t" l="l"/>
            <a:pathLst>
              <a:path h="6556408" w="6794206">
                <a:moveTo>
                  <a:pt x="0" y="0"/>
                </a:moveTo>
                <a:lnTo>
                  <a:pt x="6794205" y="0"/>
                </a:lnTo>
                <a:lnTo>
                  <a:pt x="6794205" y="6556409"/>
                </a:lnTo>
                <a:lnTo>
                  <a:pt x="0" y="6556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5165663" cy="4573960"/>
          </a:xfrm>
          <a:custGeom>
            <a:avLst/>
            <a:gdLst/>
            <a:ahLst/>
            <a:cxnLst/>
            <a:rect r="r" b="b" t="t" l="l"/>
            <a:pathLst>
              <a:path h="4573960" w="5165663">
                <a:moveTo>
                  <a:pt x="0" y="0"/>
                </a:moveTo>
                <a:lnTo>
                  <a:pt x="5165663" y="0"/>
                </a:lnTo>
                <a:lnTo>
                  <a:pt x="5165663" y="4573960"/>
                </a:lnTo>
                <a:lnTo>
                  <a:pt x="0" y="4573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161316">
            <a:off x="15857187" y="7932615"/>
            <a:ext cx="3760807" cy="2651369"/>
          </a:xfrm>
          <a:custGeom>
            <a:avLst/>
            <a:gdLst/>
            <a:ahLst/>
            <a:cxnLst/>
            <a:rect r="r" b="b" t="t" l="l"/>
            <a:pathLst>
              <a:path h="2651369" w="3760807">
                <a:moveTo>
                  <a:pt x="0" y="0"/>
                </a:moveTo>
                <a:lnTo>
                  <a:pt x="3760808" y="0"/>
                </a:lnTo>
                <a:lnTo>
                  <a:pt x="3760808" y="2651370"/>
                </a:lnTo>
                <a:lnTo>
                  <a:pt x="0" y="2651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68732">
            <a:off x="-1654945" y="-662063"/>
            <a:ext cx="3309890" cy="2333473"/>
          </a:xfrm>
          <a:custGeom>
            <a:avLst/>
            <a:gdLst/>
            <a:ahLst/>
            <a:cxnLst/>
            <a:rect r="r" b="b" t="t" l="l"/>
            <a:pathLst>
              <a:path h="2333473" w="3309890">
                <a:moveTo>
                  <a:pt x="0" y="0"/>
                </a:moveTo>
                <a:lnTo>
                  <a:pt x="3309890" y="0"/>
                </a:lnTo>
                <a:lnTo>
                  <a:pt x="3309890" y="2333472"/>
                </a:lnTo>
                <a:lnTo>
                  <a:pt x="0" y="2333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68665" y="747158"/>
            <a:ext cx="6044039" cy="111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09"/>
              </a:lnSpc>
              <a:spcBef>
                <a:spcPct val="0"/>
              </a:spcBef>
            </a:pPr>
            <a:r>
              <a:rPr lang="en-US" b="true" sz="7756">
                <a:solidFill>
                  <a:srgbClr val="141313"/>
                </a:solidFill>
                <a:latin typeface="Barlow 2 Bold"/>
                <a:ea typeface="Barlow 2 Bold"/>
                <a:cs typeface="Barlow 2 Bold"/>
                <a:sym typeface="Barlow 2 Bold"/>
              </a:rPr>
              <a:t>ÍNDICE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165663" y="2298659"/>
            <a:ext cx="6047040" cy="7452173"/>
            <a:chOff x="0" y="0"/>
            <a:chExt cx="8062720" cy="993623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04162" y="-180975"/>
              <a:ext cx="7158558" cy="1011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Contexto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Problemática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Encuestados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Solución Propuesta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Metodología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Competencias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Arquitectura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Modelo de Negocio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App / Demo</a:t>
              </a:r>
            </a:p>
            <a:p>
              <a:pPr algn="l">
                <a:lnSpc>
                  <a:spcPts val="5528"/>
                </a:lnSpc>
              </a:pPr>
              <a:r>
                <a:rPr lang="en-US" sz="3037" spc="106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Cierre</a:t>
              </a:r>
            </a:p>
            <a:p>
              <a:pPr algn="l" marL="0" indent="0" lvl="0">
                <a:lnSpc>
                  <a:spcPts val="5528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80975"/>
              <a:ext cx="904162" cy="9184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01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02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03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04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05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06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07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08</a:t>
              </a:r>
            </a:p>
            <a:p>
              <a:pPr algn="ctr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09</a:t>
              </a:r>
            </a:p>
            <a:p>
              <a:pPr algn="ctr" marL="0" indent="0" lvl="0">
                <a:lnSpc>
                  <a:spcPts val="5528"/>
                </a:lnSpc>
              </a:pPr>
              <a:r>
                <a:rPr lang="en-US" b="true" sz="3037" spc="106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10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4742" y="0"/>
            <a:ext cx="5493258" cy="10287000"/>
          </a:xfrm>
          <a:custGeom>
            <a:avLst/>
            <a:gdLst/>
            <a:ahLst/>
            <a:cxnLst/>
            <a:rect r="r" b="b" t="t" l="l"/>
            <a:pathLst>
              <a:path h="10287000" w="5493258">
                <a:moveTo>
                  <a:pt x="0" y="0"/>
                </a:moveTo>
                <a:lnTo>
                  <a:pt x="5493258" y="0"/>
                </a:lnTo>
                <a:lnTo>
                  <a:pt x="54932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537" t="0" r="-905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6372730" y="3431743"/>
            <a:ext cx="10287000" cy="3423514"/>
          </a:xfrm>
          <a:custGeom>
            <a:avLst/>
            <a:gdLst/>
            <a:ahLst/>
            <a:cxnLst/>
            <a:rect r="r" b="b" t="t" l="l"/>
            <a:pathLst>
              <a:path h="3423514" w="10287000">
                <a:moveTo>
                  <a:pt x="0" y="0"/>
                </a:moveTo>
                <a:lnTo>
                  <a:pt x="10287000" y="0"/>
                </a:lnTo>
                <a:lnTo>
                  <a:pt x="10287000" y="3423514"/>
                </a:lnTo>
                <a:lnTo>
                  <a:pt x="0" y="3423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29783">
            <a:off x="11223922" y="-806363"/>
            <a:ext cx="3673149" cy="2589570"/>
          </a:xfrm>
          <a:custGeom>
            <a:avLst/>
            <a:gdLst/>
            <a:ahLst/>
            <a:cxnLst/>
            <a:rect r="r" b="b" t="t" l="l"/>
            <a:pathLst>
              <a:path h="2589570" w="3673149">
                <a:moveTo>
                  <a:pt x="0" y="0"/>
                </a:moveTo>
                <a:lnTo>
                  <a:pt x="3673149" y="0"/>
                </a:lnTo>
                <a:lnTo>
                  <a:pt x="3673149" y="2589570"/>
                </a:lnTo>
                <a:lnTo>
                  <a:pt x="0" y="2589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58167" y="8639966"/>
            <a:ext cx="3673149" cy="2589570"/>
          </a:xfrm>
          <a:custGeom>
            <a:avLst/>
            <a:gdLst/>
            <a:ahLst/>
            <a:cxnLst/>
            <a:rect r="r" b="b" t="t" l="l"/>
            <a:pathLst>
              <a:path h="2589570" w="3673149">
                <a:moveTo>
                  <a:pt x="0" y="0"/>
                </a:moveTo>
                <a:lnTo>
                  <a:pt x="3673150" y="0"/>
                </a:lnTo>
                <a:lnTo>
                  <a:pt x="3673150" y="2589570"/>
                </a:lnTo>
                <a:lnTo>
                  <a:pt x="0" y="2589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96760" y="3221228"/>
            <a:ext cx="4380835" cy="5146355"/>
          </a:xfrm>
          <a:custGeom>
            <a:avLst/>
            <a:gdLst/>
            <a:ahLst/>
            <a:cxnLst/>
            <a:rect r="r" b="b" t="t" l="l"/>
            <a:pathLst>
              <a:path h="5146355" w="4380835">
                <a:moveTo>
                  <a:pt x="0" y="0"/>
                </a:moveTo>
                <a:lnTo>
                  <a:pt x="4380835" y="0"/>
                </a:lnTo>
                <a:lnTo>
                  <a:pt x="4380835" y="5146356"/>
                </a:lnTo>
                <a:lnTo>
                  <a:pt x="0" y="51463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3501" y="5143500"/>
            <a:ext cx="790399" cy="808028"/>
          </a:xfrm>
          <a:custGeom>
            <a:avLst/>
            <a:gdLst/>
            <a:ahLst/>
            <a:cxnLst/>
            <a:rect r="r" b="b" t="t" l="l"/>
            <a:pathLst>
              <a:path h="808028" w="790399">
                <a:moveTo>
                  <a:pt x="0" y="0"/>
                </a:moveTo>
                <a:lnTo>
                  <a:pt x="790398" y="0"/>
                </a:lnTo>
                <a:lnTo>
                  <a:pt x="790398" y="808028"/>
                </a:lnTo>
                <a:lnTo>
                  <a:pt x="0" y="8080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5218" y="3046641"/>
            <a:ext cx="790399" cy="794734"/>
          </a:xfrm>
          <a:custGeom>
            <a:avLst/>
            <a:gdLst/>
            <a:ahLst/>
            <a:cxnLst/>
            <a:rect r="r" b="b" t="t" l="l"/>
            <a:pathLst>
              <a:path h="794734" w="790399">
                <a:moveTo>
                  <a:pt x="0" y="0"/>
                </a:moveTo>
                <a:lnTo>
                  <a:pt x="790399" y="0"/>
                </a:lnTo>
                <a:lnTo>
                  <a:pt x="790399" y="794734"/>
                </a:lnTo>
                <a:lnTo>
                  <a:pt x="0" y="794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6936" y="7256453"/>
            <a:ext cx="788681" cy="858241"/>
          </a:xfrm>
          <a:custGeom>
            <a:avLst/>
            <a:gdLst/>
            <a:ahLst/>
            <a:cxnLst/>
            <a:rect r="r" b="b" t="t" l="l"/>
            <a:pathLst>
              <a:path h="858241" w="788681">
                <a:moveTo>
                  <a:pt x="0" y="0"/>
                </a:moveTo>
                <a:lnTo>
                  <a:pt x="788681" y="0"/>
                </a:lnTo>
                <a:lnTo>
                  <a:pt x="788681" y="858242"/>
                </a:lnTo>
                <a:lnTo>
                  <a:pt x="0" y="8582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1277" y="488422"/>
            <a:ext cx="9431542" cy="2225418"/>
            <a:chOff x="0" y="0"/>
            <a:chExt cx="12575390" cy="29672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57769" cy="2967224"/>
            </a:xfrm>
            <a:custGeom>
              <a:avLst/>
              <a:gdLst/>
              <a:ahLst/>
              <a:cxnLst/>
              <a:rect r="r" b="b" t="t" l="l"/>
              <a:pathLst>
                <a:path h="2967224" w="5057769">
                  <a:moveTo>
                    <a:pt x="0" y="0"/>
                  </a:moveTo>
                  <a:lnTo>
                    <a:pt x="5057769" y="0"/>
                  </a:lnTo>
                  <a:lnTo>
                    <a:pt x="5057769" y="2967224"/>
                  </a:lnTo>
                  <a:lnTo>
                    <a:pt x="0" y="2967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13592" y="714841"/>
              <a:ext cx="12261798" cy="1265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185"/>
                </a:lnSpc>
                <a:spcBef>
                  <a:spcPct val="0"/>
                </a:spcBef>
              </a:pPr>
              <a:r>
                <a:rPr lang="en-US" b="true" sz="6472">
                  <a:solidFill>
                    <a:srgbClr val="141313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Contexto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4793" y="2979966"/>
            <a:ext cx="8775773" cy="6278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25"/>
              </a:lnSpc>
              <a:spcBef>
                <a:spcPct val="0"/>
              </a:spcBef>
            </a:pPr>
            <a:r>
              <a:rPr lang="en-US" b="true" sz="2946">
                <a:solidFill>
                  <a:srgbClr val="F9CE46"/>
                </a:solidFill>
                <a:latin typeface="Barlow 2 Bold"/>
                <a:ea typeface="Barlow 2 Bold"/>
                <a:cs typeface="Barlow 2 Bold"/>
                <a:sym typeface="Barlow 2 Bold"/>
              </a:rPr>
              <a:t>MyGoalFinance</a:t>
            </a:r>
            <a:r>
              <a:rPr lang="en-US" b="true" sz="2946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 </a:t>
            </a:r>
            <a:r>
              <a:rPr lang="en-US" sz="2946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se encuentra en su </a:t>
            </a:r>
            <a:r>
              <a:rPr lang="en-US" b="true" sz="2946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etapa final como MVP funcional</a:t>
            </a:r>
            <a:r>
              <a:rPr lang="en-US" sz="2946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, integrando front-end, back-end, base de datos e inteligencia artificial.</a:t>
            </a:r>
          </a:p>
          <a:p>
            <a:pPr algn="just" marL="0" indent="0" lvl="0">
              <a:lnSpc>
                <a:spcPts val="4125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25"/>
              </a:lnSpc>
              <a:spcBef>
                <a:spcPct val="0"/>
              </a:spcBef>
            </a:pPr>
            <a:r>
              <a:rPr lang="en-US" b="true" sz="2946" strike="noStrike" u="none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El desarrollo ha sido estable y centrado en pulir </a:t>
            </a:r>
            <a:r>
              <a:rPr lang="en-US" sz="2946" strike="noStrike" u="none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la navegación, rendimiento y claridad de la experiencia de usuario.</a:t>
            </a:r>
          </a:p>
          <a:p>
            <a:pPr algn="just" marL="0" indent="0" lvl="0">
              <a:lnSpc>
                <a:spcPts val="4125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25"/>
              </a:lnSpc>
              <a:spcBef>
                <a:spcPct val="0"/>
              </a:spcBef>
            </a:pPr>
            <a:r>
              <a:rPr lang="en-US" sz="2946" strike="noStrike" u="none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Actualmente buscamos </a:t>
            </a:r>
            <a:r>
              <a:rPr lang="en-US" b="true" sz="2946" strike="noStrike" u="none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validar el producto mediante feedback real</a:t>
            </a:r>
            <a:r>
              <a:rPr lang="en-US" sz="2946" strike="noStrike" u="none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 para asegurar utilidad, adopción y claridad para el lanzamiento oficial.</a:t>
            </a:r>
          </a:p>
          <a:p>
            <a:pPr algn="just" marL="0" indent="0" lvl="0">
              <a:lnSpc>
                <a:spcPts val="4125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58878" y="3463058"/>
            <a:ext cx="1892974" cy="125410"/>
          </a:xfrm>
          <a:custGeom>
            <a:avLst/>
            <a:gdLst/>
            <a:ahLst/>
            <a:cxnLst/>
            <a:rect r="r" b="b" t="t" l="l"/>
            <a:pathLst>
              <a:path h="125410" w="1892974">
                <a:moveTo>
                  <a:pt x="0" y="0"/>
                </a:moveTo>
                <a:lnTo>
                  <a:pt x="1892974" y="0"/>
                </a:lnTo>
                <a:lnTo>
                  <a:pt x="1892974" y="125410"/>
                </a:lnTo>
                <a:lnTo>
                  <a:pt x="0" y="12541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56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7376" y="-4440564"/>
            <a:ext cx="19898005" cy="16744749"/>
            <a:chOff x="0" y="0"/>
            <a:chExt cx="26530674" cy="22326333"/>
          </a:xfrm>
        </p:grpSpPr>
        <p:sp>
          <p:nvSpPr>
            <p:cNvPr name="Freeform 3" id="3"/>
            <p:cNvSpPr/>
            <p:nvPr/>
          </p:nvSpPr>
          <p:spPr>
            <a:xfrm flipH="true" flipV="true" rot="-4148877">
              <a:off x="13634415" y="10573813"/>
              <a:ext cx="15240409" cy="5486547"/>
            </a:xfrm>
            <a:custGeom>
              <a:avLst/>
              <a:gdLst/>
              <a:ahLst/>
              <a:cxnLst/>
              <a:rect r="r" b="b" t="t" l="l"/>
              <a:pathLst>
                <a:path h="5486547" w="15240409">
                  <a:moveTo>
                    <a:pt x="15240409" y="5486547"/>
                  </a:moveTo>
                  <a:lnTo>
                    <a:pt x="0" y="5486547"/>
                  </a:lnTo>
                  <a:lnTo>
                    <a:pt x="0" y="0"/>
                  </a:lnTo>
                  <a:lnTo>
                    <a:pt x="15240409" y="0"/>
                  </a:lnTo>
                  <a:lnTo>
                    <a:pt x="15240409" y="548654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4" id="4"/>
            <p:cNvGrpSpPr/>
            <p:nvPr/>
          </p:nvGrpSpPr>
          <p:grpSpPr>
            <a:xfrm rot="957109">
              <a:off x="2150984" y="2091951"/>
              <a:ext cx="17765622" cy="18142431"/>
              <a:chOff x="0" y="0"/>
              <a:chExt cx="3509259" cy="358369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509259" cy="3583690"/>
              </a:xfrm>
              <a:custGeom>
                <a:avLst/>
                <a:gdLst/>
                <a:ahLst/>
                <a:cxnLst/>
                <a:rect r="r" b="b" t="t" l="l"/>
                <a:pathLst>
                  <a:path h="3583690" w="3509259">
                    <a:moveTo>
                      <a:pt x="29633" y="0"/>
                    </a:moveTo>
                    <a:lnTo>
                      <a:pt x="3479626" y="0"/>
                    </a:lnTo>
                    <a:cubicBezTo>
                      <a:pt x="3487485" y="0"/>
                      <a:pt x="3495022" y="3122"/>
                      <a:pt x="3500579" y="8679"/>
                    </a:cubicBezTo>
                    <a:cubicBezTo>
                      <a:pt x="3506137" y="14237"/>
                      <a:pt x="3509259" y="21774"/>
                      <a:pt x="3509259" y="29633"/>
                    </a:cubicBezTo>
                    <a:lnTo>
                      <a:pt x="3509259" y="3554057"/>
                    </a:lnTo>
                    <a:cubicBezTo>
                      <a:pt x="3509259" y="3561916"/>
                      <a:pt x="3506137" y="3569453"/>
                      <a:pt x="3500579" y="3575011"/>
                    </a:cubicBezTo>
                    <a:cubicBezTo>
                      <a:pt x="3495022" y="3580568"/>
                      <a:pt x="3487485" y="3583690"/>
                      <a:pt x="3479626" y="3583690"/>
                    </a:cubicBezTo>
                    <a:lnTo>
                      <a:pt x="29633" y="3583690"/>
                    </a:lnTo>
                    <a:cubicBezTo>
                      <a:pt x="21774" y="3583690"/>
                      <a:pt x="14237" y="3580568"/>
                      <a:pt x="8679" y="3575011"/>
                    </a:cubicBezTo>
                    <a:cubicBezTo>
                      <a:pt x="3122" y="3569453"/>
                      <a:pt x="0" y="3561916"/>
                      <a:pt x="0" y="3554057"/>
                    </a:cubicBezTo>
                    <a:lnTo>
                      <a:pt x="0" y="29633"/>
                    </a:lnTo>
                    <a:cubicBezTo>
                      <a:pt x="0" y="21774"/>
                      <a:pt x="3122" y="14237"/>
                      <a:pt x="8679" y="8679"/>
                    </a:cubicBezTo>
                    <a:cubicBezTo>
                      <a:pt x="14237" y="3122"/>
                      <a:pt x="21774" y="0"/>
                      <a:pt x="29633" y="0"/>
                    </a:cubicBezTo>
                    <a:close/>
                  </a:path>
                </a:pathLst>
              </a:custGeom>
              <a:solidFill>
                <a:srgbClr val="F9CE4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3509259" cy="3631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4"/>
                  </a:lnSpc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1064018" y="776390"/>
            <a:ext cx="5122944" cy="6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2"/>
              </a:lnSpc>
            </a:pPr>
            <a:r>
              <a:rPr lang="en-US" b="true" sz="5050">
                <a:solidFill>
                  <a:srgbClr val="141313"/>
                </a:solidFill>
                <a:latin typeface="Barlow 1 Bold"/>
                <a:ea typeface="Barlow 1 Bold"/>
                <a:cs typeface="Barlow 1 Bold"/>
                <a:sym typeface="Barlow 1 Bold"/>
              </a:rPr>
              <a:t>Problemática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8578734">
            <a:off x="14784317" y="-2244319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1" y="0"/>
                </a:lnTo>
                <a:lnTo>
                  <a:pt x="7300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3092093"/>
            <a:ext cx="6971560" cy="5535523"/>
            <a:chOff x="0" y="0"/>
            <a:chExt cx="9295413" cy="7380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4022"/>
              <a:ext cx="1819715" cy="1819715"/>
            </a:xfrm>
            <a:custGeom>
              <a:avLst/>
              <a:gdLst/>
              <a:ahLst/>
              <a:cxnLst/>
              <a:rect r="r" b="b" t="t" l="l"/>
              <a:pathLst>
                <a:path h="1819715" w="1819715">
                  <a:moveTo>
                    <a:pt x="0" y="0"/>
                  </a:moveTo>
                  <a:lnTo>
                    <a:pt x="1819715" y="0"/>
                  </a:lnTo>
                  <a:lnTo>
                    <a:pt x="1819715" y="1819715"/>
                  </a:lnTo>
                  <a:lnTo>
                    <a:pt x="0" y="1819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30080" y="429073"/>
              <a:ext cx="989614" cy="989614"/>
            </a:xfrm>
            <a:custGeom>
              <a:avLst/>
              <a:gdLst/>
              <a:ahLst/>
              <a:cxnLst/>
              <a:rect r="r" b="b" t="t" l="l"/>
              <a:pathLst>
                <a:path h="989614" w="989614">
                  <a:moveTo>
                    <a:pt x="0" y="0"/>
                  </a:moveTo>
                  <a:lnTo>
                    <a:pt x="989614" y="0"/>
                  </a:lnTo>
                  <a:lnTo>
                    <a:pt x="989614" y="989613"/>
                  </a:lnTo>
                  <a:lnTo>
                    <a:pt x="0" y="98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090453" y="562497"/>
              <a:ext cx="6850493" cy="115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553"/>
                </a:lnSpc>
                <a:spcBef>
                  <a:spcPct val="0"/>
                </a:spcBef>
              </a:pPr>
              <a:r>
                <a:rPr lang="en-US" sz="2538" strike="noStrike" u="none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Dificultad para organizar ingresos, gastos y metas sin una guía clara.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90453" y="-47625"/>
              <a:ext cx="4225853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91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Organización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813132"/>
              <a:ext cx="1819715" cy="1819715"/>
            </a:xfrm>
            <a:custGeom>
              <a:avLst/>
              <a:gdLst/>
              <a:ahLst/>
              <a:cxnLst/>
              <a:rect r="r" b="b" t="t" l="l"/>
              <a:pathLst>
                <a:path h="1819715" w="1819715">
                  <a:moveTo>
                    <a:pt x="0" y="0"/>
                  </a:moveTo>
                  <a:lnTo>
                    <a:pt x="1819715" y="0"/>
                  </a:lnTo>
                  <a:lnTo>
                    <a:pt x="1819715" y="1819715"/>
                  </a:lnTo>
                  <a:lnTo>
                    <a:pt x="0" y="1819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4936" y="3245053"/>
              <a:ext cx="1144757" cy="955872"/>
            </a:xfrm>
            <a:custGeom>
              <a:avLst/>
              <a:gdLst/>
              <a:ahLst/>
              <a:cxnLst/>
              <a:rect r="r" b="b" t="t" l="l"/>
              <a:pathLst>
                <a:path h="955872" w="1144757">
                  <a:moveTo>
                    <a:pt x="0" y="0"/>
                  </a:moveTo>
                  <a:lnTo>
                    <a:pt x="1144758" y="0"/>
                  </a:lnTo>
                  <a:lnTo>
                    <a:pt x="1144758" y="955872"/>
                  </a:lnTo>
                  <a:lnTo>
                    <a:pt x="0" y="955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090453" y="3441619"/>
              <a:ext cx="6871563" cy="115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3"/>
                </a:lnSpc>
                <a:spcBef>
                  <a:spcPct val="0"/>
                </a:spcBef>
              </a:pPr>
              <a:r>
                <a:rPr lang="en-US" sz="2538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Falta de conocimiento sobre herramientas financieras básicas.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090453" y="2876180"/>
              <a:ext cx="4225853" cy="5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 spc="90" strike="noStrike" u="none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Desconocimiento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95093" y="5612242"/>
              <a:ext cx="1724622" cy="1724622"/>
            </a:xfrm>
            <a:custGeom>
              <a:avLst/>
              <a:gdLst/>
              <a:ahLst/>
              <a:cxnLst/>
              <a:rect r="r" b="b" t="t" l="l"/>
              <a:pathLst>
                <a:path h="1724622" w="1724622">
                  <a:moveTo>
                    <a:pt x="0" y="0"/>
                  </a:moveTo>
                  <a:lnTo>
                    <a:pt x="1724622" y="0"/>
                  </a:lnTo>
                  <a:lnTo>
                    <a:pt x="1724622" y="1724622"/>
                  </a:lnTo>
                  <a:lnTo>
                    <a:pt x="0" y="172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8806" y="5961987"/>
              <a:ext cx="965410" cy="965410"/>
            </a:xfrm>
            <a:custGeom>
              <a:avLst/>
              <a:gdLst/>
              <a:ahLst/>
              <a:cxnLst/>
              <a:rect r="r" b="b" t="t" l="l"/>
              <a:pathLst>
                <a:path h="965410" w="965410">
                  <a:moveTo>
                    <a:pt x="0" y="0"/>
                  </a:moveTo>
                  <a:lnTo>
                    <a:pt x="965410" y="0"/>
                  </a:lnTo>
                  <a:lnTo>
                    <a:pt x="965410" y="965409"/>
                  </a:lnTo>
                  <a:lnTo>
                    <a:pt x="0" y="965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090453" y="6249591"/>
              <a:ext cx="7204961" cy="1131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0"/>
                </a:lnSpc>
                <a:spcBef>
                  <a:spcPct val="0"/>
                </a:spcBef>
              </a:pPr>
              <a:r>
                <a:rPr lang="en-US" sz="2507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Información poco clara, lo que genera falta de control personal.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090453" y="5655607"/>
              <a:ext cx="4657297" cy="56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91" strike="noStrike" u="none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Frustración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84453" y="1577452"/>
            <a:ext cx="8059547" cy="125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Barlow 1 Medium"/>
                <a:ea typeface="Barlow 1 Medium"/>
                <a:cs typeface="Barlow 1 Medium"/>
                <a:sym typeface="Barlow 1 Medium"/>
              </a:rPr>
              <a:t>Los usuarios carecen de educación financiera personalizada que les permita tomar decisiones económicas informadas y sostenibles.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81188" y="2518624"/>
            <a:ext cx="4740954" cy="1734135"/>
            <a:chOff x="0" y="0"/>
            <a:chExt cx="6321272" cy="231218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3507300" y="0"/>
              <a:ext cx="2813972" cy="2312180"/>
              <a:chOff x="0" y="0"/>
              <a:chExt cx="1474019" cy="12111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474019" cy="1211169"/>
              </a:xfrm>
              <a:custGeom>
                <a:avLst/>
                <a:gdLst/>
                <a:ahLst/>
                <a:cxnLst/>
                <a:rect r="r" b="b" t="t" l="l"/>
                <a:pathLst>
                  <a:path h="1211169" w="1474019">
                    <a:moveTo>
                      <a:pt x="52616" y="0"/>
                    </a:moveTo>
                    <a:lnTo>
                      <a:pt x="1421402" y="0"/>
                    </a:lnTo>
                    <a:cubicBezTo>
                      <a:pt x="1450461" y="0"/>
                      <a:pt x="1474019" y="23557"/>
                      <a:pt x="1474019" y="52616"/>
                    </a:cubicBezTo>
                    <a:lnTo>
                      <a:pt x="1474019" y="1158553"/>
                    </a:lnTo>
                    <a:cubicBezTo>
                      <a:pt x="1474019" y="1187612"/>
                      <a:pt x="1450461" y="1211169"/>
                      <a:pt x="1421402" y="1211169"/>
                    </a:cubicBezTo>
                    <a:lnTo>
                      <a:pt x="52616" y="1211169"/>
                    </a:lnTo>
                    <a:cubicBezTo>
                      <a:pt x="23557" y="1211169"/>
                      <a:pt x="0" y="1187612"/>
                      <a:pt x="0" y="1158553"/>
                    </a:cubicBezTo>
                    <a:lnTo>
                      <a:pt x="0" y="52616"/>
                    </a:lnTo>
                    <a:cubicBezTo>
                      <a:pt x="0" y="23557"/>
                      <a:pt x="23557" y="0"/>
                      <a:pt x="52616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l="-332" t="0" r="-332" b="0"/>
                </a:stretch>
              </a:blip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3507300" cy="763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9"/>
                </a:lnSpc>
                <a:spcBef>
                  <a:spcPct val="0"/>
                </a:spcBef>
              </a:pPr>
              <a:r>
                <a:rPr lang="en-US" b="true" sz="3442">
                  <a:solidFill>
                    <a:srgbClr val="87D1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JÓVENES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668531"/>
              <a:ext cx="2813972" cy="149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5"/>
                </a:lnSpc>
                <a:spcBef>
                  <a:spcPct val="0"/>
                </a:spcBef>
              </a:pPr>
              <a:r>
                <a:rPr lang="en-US" sz="1625" strike="noStrike" u="none">
                  <a:solidFill>
                    <a:srgbClr val="FFFFFF"/>
                  </a:solidFill>
                  <a:latin typeface="Barlow 1"/>
                  <a:ea typeface="Barlow 1"/>
                  <a:cs typeface="Barlow 1"/>
                  <a:sym typeface="Barlow 1"/>
                </a:rPr>
                <a:t>Empleados con ingresos estables que buscan ahorrar y/o invertir.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549814" y="7466951"/>
            <a:ext cx="4872328" cy="1791349"/>
            <a:chOff x="0" y="0"/>
            <a:chExt cx="6496437" cy="238846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3589624" y="0"/>
              <a:ext cx="2906813" cy="2388465"/>
              <a:chOff x="0" y="0"/>
              <a:chExt cx="1474019" cy="121116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74019" cy="1211169"/>
              </a:xfrm>
              <a:custGeom>
                <a:avLst/>
                <a:gdLst/>
                <a:ahLst/>
                <a:cxnLst/>
                <a:rect r="r" b="b" t="t" l="l"/>
                <a:pathLst>
                  <a:path h="1211169" w="1474019">
                    <a:moveTo>
                      <a:pt x="50936" y="0"/>
                    </a:moveTo>
                    <a:lnTo>
                      <a:pt x="1423083" y="0"/>
                    </a:lnTo>
                    <a:cubicBezTo>
                      <a:pt x="1451214" y="0"/>
                      <a:pt x="1474019" y="22805"/>
                      <a:pt x="1474019" y="50936"/>
                    </a:cubicBezTo>
                    <a:lnTo>
                      <a:pt x="1474019" y="1160233"/>
                    </a:lnTo>
                    <a:cubicBezTo>
                      <a:pt x="1474019" y="1188364"/>
                      <a:pt x="1451214" y="1211169"/>
                      <a:pt x="1423083" y="1211169"/>
                    </a:cubicBezTo>
                    <a:lnTo>
                      <a:pt x="50936" y="1211169"/>
                    </a:lnTo>
                    <a:cubicBezTo>
                      <a:pt x="22805" y="1211169"/>
                      <a:pt x="0" y="1188364"/>
                      <a:pt x="0" y="1160233"/>
                    </a:cubicBezTo>
                    <a:lnTo>
                      <a:pt x="0" y="50936"/>
                    </a:lnTo>
                    <a:cubicBezTo>
                      <a:pt x="0" y="22805"/>
                      <a:pt x="22805" y="0"/>
                      <a:pt x="50936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l="-332" t="0" r="-332" b="0"/>
                </a:stretch>
              </a:blip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1079"/>
              <a:ext cx="3589624" cy="763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9"/>
                </a:lnSpc>
                <a:spcBef>
                  <a:spcPct val="0"/>
                </a:spcBef>
              </a:pPr>
              <a:r>
                <a:rPr lang="en-US" b="true" sz="3442">
                  <a:solidFill>
                    <a:srgbClr val="87D1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FREELANCERS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6421" y="746285"/>
              <a:ext cx="2906813" cy="111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5"/>
                </a:lnSpc>
              </a:pPr>
              <a:r>
                <a:rPr lang="en-US" sz="1625" u="none">
                  <a:solidFill>
                    <a:srgbClr val="FFFFFF"/>
                  </a:solidFill>
                  <a:latin typeface="Barlow 1"/>
                  <a:ea typeface="Barlow 1"/>
                  <a:cs typeface="Barlow 1"/>
                  <a:sym typeface="Barlow 1"/>
                </a:rPr>
                <a:t>Necesitan control de flujo de caja por proyecto.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584629" y="4992788"/>
            <a:ext cx="4837512" cy="1734135"/>
            <a:chOff x="0" y="0"/>
            <a:chExt cx="6450017" cy="231218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3636045" y="0"/>
              <a:ext cx="2813972" cy="2312180"/>
              <a:chOff x="0" y="0"/>
              <a:chExt cx="1474019" cy="121116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74019" cy="1211169"/>
              </a:xfrm>
              <a:custGeom>
                <a:avLst/>
                <a:gdLst/>
                <a:ahLst/>
                <a:cxnLst/>
                <a:rect r="r" b="b" t="t" l="l"/>
                <a:pathLst>
                  <a:path h="1211169" w="1474019">
                    <a:moveTo>
                      <a:pt x="52616" y="0"/>
                    </a:moveTo>
                    <a:lnTo>
                      <a:pt x="1421402" y="0"/>
                    </a:lnTo>
                    <a:cubicBezTo>
                      <a:pt x="1450461" y="0"/>
                      <a:pt x="1474019" y="23557"/>
                      <a:pt x="1474019" y="52616"/>
                    </a:cubicBezTo>
                    <a:lnTo>
                      <a:pt x="1474019" y="1158553"/>
                    </a:lnTo>
                    <a:cubicBezTo>
                      <a:pt x="1474019" y="1187612"/>
                      <a:pt x="1450461" y="1211169"/>
                      <a:pt x="1421402" y="1211169"/>
                    </a:cubicBezTo>
                    <a:lnTo>
                      <a:pt x="52616" y="1211169"/>
                    </a:lnTo>
                    <a:cubicBezTo>
                      <a:pt x="23557" y="1211169"/>
                      <a:pt x="0" y="1187612"/>
                      <a:pt x="0" y="1158553"/>
                    </a:cubicBezTo>
                    <a:lnTo>
                      <a:pt x="0" y="52616"/>
                    </a:lnTo>
                    <a:cubicBezTo>
                      <a:pt x="0" y="23557"/>
                      <a:pt x="23557" y="0"/>
                      <a:pt x="52616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332" t="0" r="-332" b="0"/>
                </a:stretch>
              </a:blip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-32486"/>
              <a:ext cx="3636045" cy="763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9"/>
                </a:lnSpc>
                <a:spcBef>
                  <a:spcPct val="0"/>
                </a:spcBef>
              </a:pPr>
              <a:r>
                <a:rPr lang="en-US" b="true" sz="3442">
                  <a:solidFill>
                    <a:srgbClr val="87D1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INCLUSIÓN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6421" y="687512"/>
              <a:ext cx="2813972" cy="1043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1"/>
                </a:lnSpc>
              </a:pPr>
              <a:r>
                <a:rPr lang="en-US" sz="1529">
                  <a:solidFill>
                    <a:srgbClr val="FFFFFF"/>
                  </a:solidFill>
                  <a:latin typeface="Barlow 1"/>
                  <a:ea typeface="Barlow 1"/>
                  <a:cs typeface="Barlow 1"/>
                  <a:sym typeface="Barlow 1"/>
                </a:rPr>
                <a:t>Todo usuario</a:t>
              </a:r>
              <a:r>
                <a:rPr lang="en-US" sz="1529" u="none">
                  <a:solidFill>
                    <a:srgbClr val="FFFFFF"/>
                  </a:solidFill>
                  <a:latin typeface="Barlow 1"/>
                  <a:ea typeface="Barlow 1"/>
                  <a:cs typeface="Barlow 1"/>
                  <a:sym typeface="Barlow 1"/>
                </a:rPr>
                <a:t> interesados en aprender a gestionar sus finanzas.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694102" y="785915"/>
            <a:ext cx="6323505" cy="130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00"/>
              </a:lnSpc>
            </a:pPr>
            <a:r>
              <a:rPr lang="en-US" b="true" sz="5000">
                <a:solidFill>
                  <a:srgbClr val="FFFFFF"/>
                </a:solidFill>
                <a:latin typeface="Barlow 2 Bold"/>
                <a:ea typeface="Barlow 2 Bold"/>
                <a:cs typeface="Barlow 2 Bold"/>
                <a:sym typeface="Barlow 2 Bold"/>
              </a:rPr>
              <a:t>Segmento de clientes en MyGoalFinance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-9843523">
            <a:off x="-4573519" y="8229600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1" y="0"/>
                </a:lnTo>
                <a:lnTo>
                  <a:pt x="7300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-6870806">
            <a:off x="-2679098" y="-2093584"/>
            <a:ext cx="4536540" cy="3198261"/>
          </a:xfrm>
          <a:custGeom>
            <a:avLst/>
            <a:gdLst/>
            <a:ahLst/>
            <a:cxnLst/>
            <a:rect r="r" b="b" t="t" l="l"/>
            <a:pathLst>
              <a:path h="3198261" w="4536540">
                <a:moveTo>
                  <a:pt x="4536540" y="0"/>
                </a:moveTo>
                <a:lnTo>
                  <a:pt x="0" y="0"/>
                </a:lnTo>
                <a:lnTo>
                  <a:pt x="0" y="3198260"/>
                </a:lnTo>
                <a:lnTo>
                  <a:pt x="4536540" y="3198260"/>
                </a:lnTo>
                <a:lnTo>
                  <a:pt x="453654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true" flipV="false" rot="-1809878">
            <a:off x="15926854" y="9206795"/>
            <a:ext cx="3064411" cy="2160410"/>
          </a:xfrm>
          <a:custGeom>
            <a:avLst/>
            <a:gdLst/>
            <a:ahLst/>
            <a:cxnLst/>
            <a:rect r="r" b="b" t="t" l="l"/>
            <a:pathLst>
              <a:path h="2160410" w="3064411">
                <a:moveTo>
                  <a:pt x="3064411" y="0"/>
                </a:moveTo>
                <a:lnTo>
                  <a:pt x="0" y="0"/>
                </a:lnTo>
                <a:lnTo>
                  <a:pt x="0" y="2160410"/>
                </a:lnTo>
                <a:lnTo>
                  <a:pt x="3064411" y="2160410"/>
                </a:lnTo>
                <a:lnTo>
                  <a:pt x="3064411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72988">
            <a:off x="-2602849" y="-870437"/>
            <a:ext cx="5504742" cy="1740875"/>
          </a:xfrm>
          <a:custGeom>
            <a:avLst/>
            <a:gdLst/>
            <a:ahLst/>
            <a:cxnLst/>
            <a:rect r="r" b="b" t="t" l="l"/>
            <a:pathLst>
              <a:path h="1740875" w="5504742">
                <a:moveTo>
                  <a:pt x="0" y="0"/>
                </a:moveTo>
                <a:lnTo>
                  <a:pt x="5504742" y="0"/>
                </a:lnTo>
                <a:lnTo>
                  <a:pt x="5504742" y="1740874"/>
                </a:lnTo>
                <a:lnTo>
                  <a:pt x="0" y="1740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26832" y="-370170"/>
            <a:ext cx="10356107" cy="10837646"/>
            <a:chOff x="0" y="0"/>
            <a:chExt cx="13808142" cy="14450195"/>
          </a:xfrm>
        </p:grpSpPr>
        <p:sp>
          <p:nvSpPr>
            <p:cNvPr name="Freeform 4" id="4"/>
            <p:cNvSpPr/>
            <p:nvPr/>
          </p:nvSpPr>
          <p:spPr>
            <a:xfrm flipH="false" flipV="true" rot="-5400000">
              <a:off x="-3470792" y="3470792"/>
              <a:ext cx="10048132" cy="3106547"/>
            </a:xfrm>
            <a:custGeom>
              <a:avLst/>
              <a:gdLst/>
              <a:ahLst/>
              <a:cxnLst/>
              <a:rect r="r" b="b" t="t" l="l"/>
              <a:pathLst>
                <a:path h="3106547" w="10048132">
                  <a:moveTo>
                    <a:pt x="0" y="3106548"/>
                  </a:moveTo>
                  <a:lnTo>
                    <a:pt x="10048132" y="3106548"/>
                  </a:lnTo>
                  <a:lnTo>
                    <a:pt x="10048132" y="0"/>
                  </a:lnTo>
                  <a:lnTo>
                    <a:pt x="0" y="0"/>
                  </a:lnTo>
                  <a:lnTo>
                    <a:pt x="0" y="3106548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-5400000">
              <a:off x="-3470792" y="7872855"/>
              <a:ext cx="10048132" cy="3106547"/>
            </a:xfrm>
            <a:custGeom>
              <a:avLst/>
              <a:gdLst/>
              <a:ahLst/>
              <a:cxnLst/>
              <a:rect r="r" b="b" t="t" l="l"/>
              <a:pathLst>
                <a:path h="3106547" w="10048132">
                  <a:moveTo>
                    <a:pt x="0" y="3106547"/>
                  </a:moveTo>
                  <a:lnTo>
                    <a:pt x="10048132" y="3106547"/>
                  </a:lnTo>
                  <a:lnTo>
                    <a:pt x="10048132" y="0"/>
                  </a:lnTo>
                  <a:lnTo>
                    <a:pt x="0" y="0"/>
                  </a:lnTo>
                  <a:lnTo>
                    <a:pt x="0" y="310654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-5400000">
              <a:off x="718595" y="1120013"/>
              <a:ext cx="13706439" cy="12472655"/>
              <a:chOff x="0" y="0"/>
              <a:chExt cx="2707445" cy="246373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7445" cy="2463735"/>
              </a:xfrm>
              <a:custGeom>
                <a:avLst/>
                <a:gdLst/>
                <a:ahLst/>
                <a:cxnLst/>
                <a:rect r="r" b="b" t="t" l="l"/>
                <a:pathLst>
                  <a:path h="2463735" w="2707445">
                    <a:moveTo>
                      <a:pt x="0" y="0"/>
                    </a:moveTo>
                    <a:lnTo>
                      <a:pt x="2707445" y="0"/>
                    </a:lnTo>
                    <a:lnTo>
                      <a:pt x="2707445" y="2463735"/>
                    </a:lnTo>
                    <a:lnTo>
                      <a:pt x="0" y="2463735"/>
                    </a:lnTo>
                    <a:close/>
                  </a:path>
                </a:pathLst>
              </a:custGeom>
              <a:solidFill>
                <a:srgbClr val="E8B83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07445" cy="25018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-2782019">
            <a:off x="9325841" y="9509662"/>
            <a:ext cx="16230600" cy="3570732"/>
          </a:xfrm>
          <a:custGeom>
            <a:avLst/>
            <a:gdLst/>
            <a:ahLst/>
            <a:cxnLst/>
            <a:rect r="r" b="b" t="t" l="l"/>
            <a:pathLst>
              <a:path h="3570732" w="16230600">
                <a:moveTo>
                  <a:pt x="0" y="0"/>
                </a:moveTo>
                <a:lnTo>
                  <a:pt x="16230600" y="0"/>
                </a:lnTo>
                <a:lnTo>
                  <a:pt x="16230600" y="3570732"/>
                </a:lnTo>
                <a:lnTo>
                  <a:pt x="0" y="3570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4301827">
            <a:off x="-3764772" y="8290982"/>
            <a:ext cx="6253479" cy="3524688"/>
          </a:xfrm>
          <a:custGeom>
            <a:avLst/>
            <a:gdLst/>
            <a:ahLst/>
            <a:cxnLst/>
            <a:rect r="r" b="b" t="t" l="l"/>
            <a:pathLst>
              <a:path h="3524688" w="6253479">
                <a:moveTo>
                  <a:pt x="6253478" y="0"/>
                </a:moveTo>
                <a:lnTo>
                  <a:pt x="0" y="0"/>
                </a:lnTo>
                <a:lnTo>
                  <a:pt x="0" y="3524688"/>
                </a:lnTo>
                <a:lnTo>
                  <a:pt x="6253478" y="3524688"/>
                </a:lnTo>
                <a:lnTo>
                  <a:pt x="625347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238600">
            <a:off x="-4936226" y="127576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5818339"/>
            <a:ext cx="9520385" cy="4004049"/>
            <a:chOff x="0" y="0"/>
            <a:chExt cx="12693846" cy="533873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693846" cy="5338733"/>
              <a:chOff x="0" y="0"/>
              <a:chExt cx="4465102" cy="18779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465102" cy="1877917"/>
              </a:xfrm>
              <a:custGeom>
                <a:avLst/>
                <a:gdLst/>
                <a:ahLst/>
                <a:cxnLst/>
                <a:rect r="r" b="b" t="t" l="l"/>
                <a:pathLst>
                  <a:path h="1877917" w="4465102">
                    <a:moveTo>
                      <a:pt x="67115" y="0"/>
                    </a:moveTo>
                    <a:lnTo>
                      <a:pt x="4397987" y="0"/>
                    </a:lnTo>
                    <a:cubicBezTo>
                      <a:pt x="4435054" y="0"/>
                      <a:pt x="4465102" y="30048"/>
                      <a:pt x="4465102" y="67115"/>
                    </a:cubicBezTo>
                    <a:lnTo>
                      <a:pt x="4465102" y="1810802"/>
                    </a:lnTo>
                    <a:cubicBezTo>
                      <a:pt x="4465102" y="1847868"/>
                      <a:pt x="4435054" y="1877917"/>
                      <a:pt x="4397987" y="1877917"/>
                    </a:cubicBezTo>
                    <a:lnTo>
                      <a:pt x="67115" y="1877917"/>
                    </a:lnTo>
                    <a:cubicBezTo>
                      <a:pt x="30048" y="1877917"/>
                      <a:pt x="0" y="1847868"/>
                      <a:pt x="0" y="1810802"/>
                    </a:cubicBezTo>
                    <a:lnTo>
                      <a:pt x="0" y="67115"/>
                    </a:lnTo>
                    <a:cubicBezTo>
                      <a:pt x="0" y="30048"/>
                      <a:pt x="30048" y="0"/>
                      <a:pt x="67115" y="0"/>
                    </a:cubicBezTo>
                    <a:close/>
                  </a:path>
                </a:pathLst>
              </a:custGeom>
              <a:solidFill>
                <a:srgbClr val="FAFBFF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465102" cy="1916017"/>
              </a:xfrm>
              <a:prstGeom prst="rect">
                <a:avLst/>
              </a:prstGeom>
            </p:spPr>
            <p:txBody>
              <a:bodyPr anchor="ctr" rtlCol="false" tIns="56169" lIns="56169" bIns="56169" rIns="5616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0">
              <a:off x="-723218" y="-188142"/>
              <a:ext cx="13833324" cy="6396290"/>
            </a:xfrm>
            <a:prstGeom prst="rect">
              <a:avLst/>
            </a:prstGeom>
          </p:spPr>
        </p:pic>
        <p:sp>
          <p:nvSpPr>
            <p:cNvPr name="TextBox 17" id="17"/>
            <p:cNvSpPr txBox="true"/>
            <p:nvPr/>
          </p:nvSpPr>
          <p:spPr>
            <a:xfrm rot="0">
              <a:off x="3203450" y="332199"/>
              <a:ext cx="8526960" cy="604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1"/>
                </a:lnSpc>
              </a:pPr>
              <a:r>
                <a:rPr lang="en-US" sz="2751" b="true">
                  <a:solidFill>
                    <a:srgbClr val="141313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INTERÉS EN GESTIÓN DEL DINERO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80213" y="5488490"/>
            <a:ext cx="5234212" cy="4403281"/>
            <a:chOff x="0" y="0"/>
            <a:chExt cx="6978950" cy="58710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8950" cy="5871042"/>
            </a:xfrm>
            <a:custGeom>
              <a:avLst/>
              <a:gdLst/>
              <a:ahLst/>
              <a:cxnLst/>
              <a:rect r="r" b="b" t="t" l="l"/>
              <a:pathLst>
                <a:path h="5871042" w="6978950">
                  <a:moveTo>
                    <a:pt x="0" y="0"/>
                  </a:moveTo>
                  <a:lnTo>
                    <a:pt x="6978950" y="0"/>
                  </a:lnTo>
                  <a:lnTo>
                    <a:pt x="6978950" y="5871042"/>
                  </a:lnTo>
                  <a:lnTo>
                    <a:pt x="0" y="587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pic>
          <p:nvPicPr>
            <p:cNvPr name="Picture 20" id="20"/>
            <p:cNvPicPr>
              <a:picLocks noChangeAspect="true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0">
              <a:off x="2423726" y="988358"/>
              <a:ext cx="4575930" cy="4575930"/>
            </a:xfrm>
            <a:prstGeom prst="rect">
              <a:avLst/>
            </a:prstGeom>
          </p:spPr>
        </p:pic>
        <p:grpSp>
          <p:nvGrpSpPr>
            <p:cNvPr name="Group 21" id="21"/>
            <p:cNvGrpSpPr/>
            <p:nvPr/>
          </p:nvGrpSpPr>
          <p:grpSpPr>
            <a:xfrm rot="0">
              <a:off x="925170" y="2711499"/>
              <a:ext cx="338662" cy="338662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566C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46585" lIns="46585" bIns="46585" rIns="46585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931837" y="3242926"/>
              <a:ext cx="338662" cy="338662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391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46585" lIns="46585" bIns="46585" rIns="46585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25170" y="3815063"/>
              <a:ext cx="338662" cy="338662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0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46585" lIns="46585" bIns="46585" rIns="46585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39222" y="556866"/>
              <a:ext cx="5700506" cy="1268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1"/>
                </a:lnSpc>
              </a:pPr>
              <a:r>
                <a:rPr lang="en-US" sz="2751" b="true">
                  <a:solidFill>
                    <a:srgbClr val="141313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NIVEL DE CONOCIMIENTO EN FINANZAS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427733" y="2673399"/>
              <a:ext cx="1214272" cy="37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9"/>
                </a:lnSpc>
              </a:pPr>
              <a:r>
                <a:rPr lang="en-US" sz="1692" b="true">
                  <a:solidFill>
                    <a:srgbClr val="141313"/>
                  </a:solidFill>
                  <a:latin typeface="Barlow SemiCondensed Medium"/>
                  <a:ea typeface="Barlow SemiCondensed Medium"/>
                  <a:cs typeface="Barlow SemiCondensed Medium"/>
                  <a:sym typeface="Barlow SemiCondensed Medium"/>
                </a:rPr>
                <a:t>Basico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427733" y="3211139"/>
              <a:ext cx="1527234" cy="37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9"/>
                </a:lnSpc>
              </a:pPr>
              <a:r>
                <a:rPr lang="en-US" sz="1692" b="true">
                  <a:solidFill>
                    <a:srgbClr val="141313"/>
                  </a:solidFill>
                  <a:latin typeface="Barlow SemiCondensed Medium"/>
                  <a:ea typeface="Barlow SemiCondensed Medium"/>
                  <a:cs typeface="Barlow SemiCondensed Medium"/>
                  <a:sym typeface="Barlow SemiCondensed Medium"/>
                </a:rPr>
                <a:t>Intermedio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427733" y="3776963"/>
              <a:ext cx="1527234" cy="37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9"/>
                </a:lnSpc>
              </a:pPr>
              <a:r>
                <a:rPr lang="en-US" sz="1692" b="true">
                  <a:solidFill>
                    <a:srgbClr val="141313"/>
                  </a:solidFill>
                  <a:latin typeface="Barlow SemiCondensed Medium"/>
                  <a:ea typeface="Barlow SemiCondensed Medium"/>
                  <a:cs typeface="Barlow SemiCondensed Medium"/>
                  <a:sym typeface="Barlow SemiCondensed Medium"/>
                </a:rPr>
                <a:t>Avanzado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375572" y="3247091"/>
              <a:ext cx="589194" cy="344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</a:pPr>
              <a:r>
                <a:rPr lang="en-US" sz="156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60%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495134" y="3809008"/>
              <a:ext cx="534424" cy="344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</a:pPr>
              <a:r>
                <a:rPr lang="en-US" sz="156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6%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624587" y="2590804"/>
              <a:ext cx="589194" cy="344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</a:pPr>
              <a:r>
                <a:rPr lang="en-US" sz="156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31%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80213" y="1028700"/>
            <a:ext cx="5234212" cy="4403281"/>
            <a:chOff x="0" y="0"/>
            <a:chExt cx="6978950" cy="58710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78950" cy="5871042"/>
            </a:xfrm>
            <a:custGeom>
              <a:avLst/>
              <a:gdLst/>
              <a:ahLst/>
              <a:cxnLst/>
              <a:rect r="r" b="b" t="t" l="l"/>
              <a:pathLst>
                <a:path h="5871042" w="6978950">
                  <a:moveTo>
                    <a:pt x="0" y="0"/>
                  </a:moveTo>
                  <a:lnTo>
                    <a:pt x="6978950" y="0"/>
                  </a:lnTo>
                  <a:lnTo>
                    <a:pt x="6978950" y="5871042"/>
                  </a:lnTo>
                  <a:lnTo>
                    <a:pt x="0" y="587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pic>
          <p:nvPicPr>
            <p:cNvPr name="Picture 39" id="39"/>
            <p:cNvPicPr>
              <a:picLocks noChangeAspect="true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0">
              <a:off x="2423726" y="1105884"/>
              <a:ext cx="4575930" cy="4575930"/>
            </a:xfrm>
            <a:prstGeom prst="rect">
              <a:avLst/>
            </a:prstGeom>
          </p:spPr>
        </p:pic>
        <p:sp>
          <p:nvSpPr>
            <p:cNvPr name="Freeform 40" id="40"/>
            <p:cNvSpPr/>
            <p:nvPr/>
          </p:nvSpPr>
          <p:spPr>
            <a:xfrm flipH="false" flipV="false" rot="0">
              <a:off x="804702" y="2811585"/>
              <a:ext cx="457447" cy="457447"/>
            </a:xfrm>
            <a:custGeom>
              <a:avLst/>
              <a:gdLst/>
              <a:ahLst/>
              <a:cxnLst/>
              <a:rect r="r" b="b" t="t" l="l"/>
              <a:pathLst>
                <a:path h="457447" w="457447">
                  <a:moveTo>
                    <a:pt x="0" y="0"/>
                  </a:moveTo>
                  <a:lnTo>
                    <a:pt x="457448" y="0"/>
                  </a:lnTo>
                  <a:lnTo>
                    <a:pt x="457448" y="457447"/>
                  </a:lnTo>
                  <a:lnTo>
                    <a:pt x="0" y="45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9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804702" y="3524672"/>
              <a:ext cx="457447" cy="465919"/>
            </a:xfrm>
            <a:custGeom>
              <a:avLst/>
              <a:gdLst/>
              <a:ahLst/>
              <a:cxnLst/>
              <a:rect r="r" b="b" t="t" l="l"/>
              <a:pathLst>
                <a:path h="465919" w="457447">
                  <a:moveTo>
                    <a:pt x="0" y="0"/>
                  </a:moveTo>
                  <a:lnTo>
                    <a:pt x="457448" y="0"/>
                  </a:lnTo>
                  <a:lnTo>
                    <a:pt x="457448" y="465919"/>
                  </a:lnTo>
                  <a:lnTo>
                    <a:pt x="0" y="465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1473132" y="2763960"/>
              <a:ext cx="324956" cy="502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8"/>
                </a:lnSpc>
              </a:pPr>
              <a:r>
                <a:rPr lang="en-US" sz="2270" b="true">
                  <a:solidFill>
                    <a:srgbClr val="141313"/>
                  </a:solidFill>
                  <a:latin typeface="Barlow SemiCondensed Medium"/>
                  <a:ea typeface="Barlow SemiCondensed Medium"/>
                  <a:cs typeface="Barlow SemiCondensed Medium"/>
                  <a:sym typeface="Barlow SemiCondensed Medium"/>
                </a:rPr>
                <a:t>Sí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473132" y="3485518"/>
              <a:ext cx="469145" cy="502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8"/>
                </a:lnSpc>
              </a:pPr>
              <a:r>
                <a:rPr lang="en-US" sz="2270" b="true">
                  <a:solidFill>
                    <a:srgbClr val="141313"/>
                  </a:solidFill>
                  <a:latin typeface="Barlow SemiCondensed Medium"/>
                  <a:ea typeface="Barlow SemiCondensed Medium"/>
                  <a:cs typeface="Barlow SemiCondensed Medium"/>
                  <a:sym typeface="Barlow SemiCondensed Medium"/>
                </a:rPr>
                <a:t>No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2346" y="3364618"/>
              <a:ext cx="589194" cy="344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</a:pPr>
              <a:r>
                <a:rPr lang="en-US" sz="156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94%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711690" y="1745069"/>
              <a:ext cx="534424" cy="344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</a:pPr>
              <a:r>
                <a:rPr lang="en-US" sz="156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6%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39222" y="663357"/>
              <a:ext cx="5700506" cy="1268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1"/>
                </a:lnSpc>
              </a:pPr>
              <a:r>
                <a:rPr lang="en-US" sz="2751" b="true">
                  <a:solidFill>
                    <a:srgbClr val="141313"/>
                  </a:solidFill>
                  <a:latin typeface="Barlow SemiCondensed Bold"/>
                  <a:ea typeface="Barlow SemiCondensed Bold"/>
                  <a:cs typeface="Barlow SemiCondensed Bold"/>
                  <a:sym typeface="Barlow SemiCondensed Bold"/>
                </a:rPr>
                <a:t>USO DE APLICACIÓN FINANCIERA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8700" y="1632839"/>
            <a:ext cx="9520385" cy="4004049"/>
            <a:chOff x="0" y="0"/>
            <a:chExt cx="12693846" cy="5338733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2693846" cy="5338733"/>
              <a:chOff x="0" y="0"/>
              <a:chExt cx="4465102" cy="187791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465102" cy="1877917"/>
              </a:xfrm>
              <a:custGeom>
                <a:avLst/>
                <a:gdLst/>
                <a:ahLst/>
                <a:cxnLst/>
                <a:rect r="r" b="b" t="t" l="l"/>
                <a:pathLst>
                  <a:path h="1877917" w="4465102">
                    <a:moveTo>
                      <a:pt x="67115" y="0"/>
                    </a:moveTo>
                    <a:lnTo>
                      <a:pt x="4397987" y="0"/>
                    </a:lnTo>
                    <a:cubicBezTo>
                      <a:pt x="4435054" y="0"/>
                      <a:pt x="4465102" y="30048"/>
                      <a:pt x="4465102" y="67115"/>
                    </a:cubicBezTo>
                    <a:lnTo>
                      <a:pt x="4465102" y="1810802"/>
                    </a:lnTo>
                    <a:cubicBezTo>
                      <a:pt x="4465102" y="1847868"/>
                      <a:pt x="4435054" y="1877917"/>
                      <a:pt x="4397987" y="1877917"/>
                    </a:cubicBezTo>
                    <a:lnTo>
                      <a:pt x="67115" y="1877917"/>
                    </a:lnTo>
                    <a:cubicBezTo>
                      <a:pt x="30048" y="1877917"/>
                      <a:pt x="0" y="1847868"/>
                      <a:pt x="0" y="1810802"/>
                    </a:cubicBezTo>
                    <a:lnTo>
                      <a:pt x="0" y="67115"/>
                    </a:lnTo>
                    <a:cubicBezTo>
                      <a:pt x="0" y="30048"/>
                      <a:pt x="30048" y="0"/>
                      <a:pt x="67115" y="0"/>
                    </a:cubicBezTo>
                    <a:close/>
                  </a:path>
                </a:pathLst>
              </a:custGeom>
              <a:solidFill>
                <a:srgbClr val="FFFFFB"/>
              </a:solidFill>
              <a:ln cap="rnd">
                <a:noFill/>
                <a:prstDash val="lgDash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4465102" cy="1916017"/>
              </a:xfrm>
              <a:prstGeom prst="rect">
                <a:avLst/>
              </a:prstGeom>
            </p:spPr>
            <p:txBody>
              <a:bodyPr anchor="ctr" rtlCol="false" tIns="56169" lIns="56169" bIns="56169" rIns="5616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pic>
          <p:nvPicPr>
            <p:cNvPr name="Picture 51" id="51"/>
            <p:cNvPicPr>
              <a:picLocks noChangeAspect="true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0">
              <a:off x="-151453" y="-136163"/>
              <a:ext cx="13209581" cy="6292333"/>
            </a:xfrm>
            <a:prstGeom prst="rect">
              <a:avLst/>
            </a:prstGeom>
          </p:spPr>
        </p:pic>
        <p:sp>
          <p:nvSpPr>
            <p:cNvPr name="TextBox 52" id="52"/>
            <p:cNvSpPr txBox="true"/>
            <p:nvPr/>
          </p:nvSpPr>
          <p:spPr>
            <a:xfrm rot="0">
              <a:off x="3203450" y="360112"/>
              <a:ext cx="8753879" cy="604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1"/>
                </a:lnSpc>
              </a:pPr>
              <a:r>
                <a:rPr lang="en-US" sz="2751" b="true">
                  <a:solidFill>
                    <a:srgbClr val="141313"/>
                  </a:solidFill>
                  <a:latin typeface="Barlow 1 Bold"/>
                  <a:ea typeface="Barlow 1 Bold"/>
                  <a:cs typeface="Barlow 1 Bold"/>
                  <a:sym typeface="Barlow 1 Bold"/>
                </a:rPr>
                <a:t>PREFERENCIA DE RECURSOS EDUCATIVOS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-270253" y="51435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3398107" y="386726"/>
            <a:ext cx="5525194" cy="88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4"/>
              </a:lnSpc>
              <a:spcBef>
                <a:spcPct val="0"/>
              </a:spcBef>
            </a:pPr>
            <a:r>
              <a:rPr lang="en-US" b="true" sz="5160">
                <a:solidFill>
                  <a:srgbClr val="141313"/>
                </a:solidFill>
                <a:latin typeface="Barlow 1 Bold"/>
                <a:ea typeface="Barlow 1 Bold"/>
                <a:cs typeface="Barlow 1 Bold"/>
                <a:sym typeface="Barlow 1 Bold"/>
              </a:rPr>
              <a:t>DATOS DE INTERÉS</a:t>
            </a:r>
          </a:p>
        </p:txBody>
      </p:sp>
      <p:sp>
        <p:nvSpPr>
          <p:cNvPr name="Freeform 55" id="55"/>
          <p:cNvSpPr/>
          <p:nvPr/>
        </p:nvSpPr>
        <p:spPr>
          <a:xfrm flipH="true" flipV="false" rot="-1809878">
            <a:off x="16954169" y="-1151208"/>
            <a:ext cx="3064411" cy="2160410"/>
          </a:xfrm>
          <a:custGeom>
            <a:avLst/>
            <a:gdLst/>
            <a:ahLst/>
            <a:cxnLst/>
            <a:rect r="r" b="b" t="t" l="l"/>
            <a:pathLst>
              <a:path h="2160410" w="3064411">
                <a:moveTo>
                  <a:pt x="3064412" y="0"/>
                </a:moveTo>
                <a:lnTo>
                  <a:pt x="0" y="0"/>
                </a:lnTo>
                <a:lnTo>
                  <a:pt x="0" y="2160410"/>
                </a:lnTo>
                <a:lnTo>
                  <a:pt x="3064412" y="2160410"/>
                </a:lnTo>
                <a:lnTo>
                  <a:pt x="3064412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true" flipV="false" rot="-9723261">
            <a:off x="10267241" y="-1151208"/>
            <a:ext cx="3064411" cy="2160410"/>
          </a:xfrm>
          <a:custGeom>
            <a:avLst/>
            <a:gdLst/>
            <a:ahLst/>
            <a:cxnLst/>
            <a:rect r="r" b="b" t="t" l="l"/>
            <a:pathLst>
              <a:path h="2160410" w="3064411">
                <a:moveTo>
                  <a:pt x="3064411" y="0"/>
                </a:moveTo>
                <a:lnTo>
                  <a:pt x="0" y="0"/>
                </a:lnTo>
                <a:lnTo>
                  <a:pt x="0" y="2160410"/>
                </a:lnTo>
                <a:lnTo>
                  <a:pt x="3064411" y="2160410"/>
                </a:lnTo>
                <a:lnTo>
                  <a:pt x="3064411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7414767" y="-458314"/>
            <a:ext cx="12250978" cy="4410352"/>
          </a:xfrm>
          <a:custGeom>
            <a:avLst/>
            <a:gdLst/>
            <a:ahLst/>
            <a:cxnLst/>
            <a:rect r="r" b="b" t="t" l="l"/>
            <a:pathLst>
              <a:path h="4410352" w="12250978">
                <a:moveTo>
                  <a:pt x="0" y="4410352"/>
                </a:moveTo>
                <a:lnTo>
                  <a:pt x="12250978" y="4410352"/>
                </a:lnTo>
                <a:lnTo>
                  <a:pt x="12250978" y="0"/>
                </a:lnTo>
                <a:lnTo>
                  <a:pt x="0" y="0"/>
                </a:lnTo>
                <a:lnTo>
                  <a:pt x="0" y="44103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1802065" y="6643597"/>
            <a:ext cx="10630837" cy="3827101"/>
          </a:xfrm>
          <a:custGeom>
            <a:avLst/>
            <a:gdLst/>
            <a:ahLst/>
            <a:cxnLst/>
            <a:rect r="r" b="b" t="t" l="l"/>
            <a:pathLst>
              <a:path h="3827101" w="10630837">
                <a:moveTo>
                  <a:pt x="10630837" y="0"/>
                </a:moveTo>
                <a:lnTo>
                  <a:pt x="0" y="0"/>
                </a:lnTo>
                <a:lnTo>
                  <a:pt x="0" y="3827101"/>
                </a:lnTo>
                <a:lnTo>
                  <a:pt x="10630837" y="3827101"/>
                </a:lnTo>
                <a:lnTo>
                  <a:pt x="106308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676830">
            <a:off x="13494407" y="-1071722"/>
            <a:ext cx="4329861" cy="3052552"/>
          </a:xfrm>
          <a:custGeom>
            <a:avLst/>
            <a:gdLst/>
            <a:ahLst/>
            <a:cxnLst/>
            <a:rect r="r" b="b" t="t" l="l"/>
            <a:pathLst>
              <a:path h="3052552" w="4329861">
                <a:moveTo>
                  <a:pt x="0" y="0"/>
                </a:moveTo>
                <a:lnTo>
                  <a:pt x="4329862" y="0"/>
                </a:lnTo>
                <a:lnTo>
                  <a:pt x="4329862" y="3052552"/>
                </a:lnTo>
                <a:lnTo>
                  <a:pt x="0" y="3052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298970" y="8557147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7300452" y="0"/>
                </a:moveTo>
                <a:lnTo>
                  <a:pt x="0" y="0"/>
                </a:lnTo>
                <a:lnTo>
                  <a:pt x="0" y="4114800"/>
                </a:lnTo>
                <a:lnTo>
                  <a:pt x="7300452" y="4114800"/>
                </a:lnTo>
                <a:lnTo>
                  <a:pt x="73004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728287">
            <a:off x="-2635939" y="1917013"/>
            <a:ext cx="4329861" cy="3052552"/>
          </a:xfrm>
          <a:custGeom>
            <a:avLst/>
            <a:gdLst/>
            <a:ahLst/>
            <a:cxnLst/>
            <a:rect r="r" b="b" t="t" l="l"/>
            <a:pathLst>
              <a:path h="3052552" w="4329861">
                <a:moveTo>
                  <a:pt x="0" y="0"/>
                </a:moveTo>
                <a:lnTo>
                  <a:pt x="4329862" y="0"/>
                </a:lnTo>
                <a:lnTo>
                  <a:pt x="4329862" y="3052552"/>
                </a:lnTo>
                <a:lnTo>
                  <a:pt x="0" y="3052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05647" y="2976343"/>
            <a:ext cx="4843549" cy="5480678"/>
          </a:xfrm>
          <a:custGeom>
            <a:avLst/>
            <a:gdLst/>
            <a:ahLst/>
            <a:cxnLst/>
            <a:rect r="r" b="b" t="t" l="l"/>
            <a:pathLst>
              <a:path h="5480678" w="4843549">
                <a:moveTo>
                  <a:pt x="0" y="0"/>
                </a:moveTo>
                <a:lnTo>
                  <a:pt x="4843549" y="0"/>
                </a:lnTo>
                <a:lnTo>
                  <a:pt x="4843549" y="5480678"/>
                </a:lnTo>
                <a:lnTo>
                  <a:pt x="0" y="54806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8060" y="4207034"/>
            <a:ext cx="9932597" cy="150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41"/>
              </a:lnSpc>
              <a:spcBef>
                <a:spcPct val="0"/>
              </a:spcBef>
            </a:pPr>
            <a:r>
              <a:rPr lang="en-US" b="true" sz="8815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PRODUCTO ACTUAL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90592" y="5669057"/>
            <a:ext cx="53875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Proxima Nova Condensed Italics"/>
                <a:ea typeface="Proxima Nova Condensed Italics"/>
                <a:cs typeface="Proxima Nova Condensed Italics"/>
                <a:sym typeface="Proxima Nova Condensed Italics"/>
              </a:rPr>
              <a:t>A continuación, la solución propuesta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5413147" y="7412147"/>
            <a:ext cx="2874853" cy="2874853"/>
            <a:chOff x="0" y="0"/>
            <a:chExt cx="3833138" cy="3833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33138" cy="3833138"/>
            </a:xfrm>
            <a:custGeom>
              <a:avLst/>
              <a:gdLst/>
              <a:ahLst/>
              <a:cxnLst/>
              <a:rect r="r" b="b" t="t" l="l"/>
              <a:pathLst>
                <a:path h="3833138" w="3833138">
                  <a:moveTo>
                    <a:pt x="0" y="0"/>
                  </a:moveTo>
                  <a:lnTo>
                    <a:pt x="3833138" y="0"/>
                  </a:lnTo>
                  <a:lnTo>
                    <a:pt x="3833138" y="3833138"/>
                  </a:lnTo>
                  <a:lnTo>
                    <a:pt x="0" y="3833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10471" y="310471"/>
              <a:ext cx="3212195" cy="3212195"/>
            </a:xfrm>
            <a:custGeom>
              <a:avLst/>
              <a:gdLst/>
              <a:ahLst/>
              <a:cxnLst/>
              <a:rect r="r" b="b" t="t" l="l"/>
              <a:pathLst>
                <a:path h="3212195" w="3212195">
                  <a:moveTo>
                    <a:pt x="0" y="0"/>
                  </a:moveTo>
                  <a:lnTo>
                    <a:pt x="3212196" y="0"/>
                  </a:lnTo>
                  <a:lnTo>
                    <a:pt x="3212196" y="3212196"/>
                  </a:lnTo>
                  <a:lnTo>
                    <a:pt x="0" y="3212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0293"/>
              </a:stretch>
            </a:blipFill>
          </p:spPr>
        </p:sp>
      </p:grpSp>
    </p:spTree>
  </p:cSld>
  <p:clrMapOvr>
    <a:masterClrMapping/>
  </p:clrMapOvr>
  <p:transition spd="slow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85850"/>
            <a:ext cx="8141118" cy="96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739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Solución Propuesta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38168" y="8596888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13352">
            <a:off x="-2151778" y="-1872502"/>
            <a:ext cx="4977792" cy="2805664"/>
          </a:xfrm>
          <a:custGeom>
            <a:avLst/>
            <a:gdLst/>
            <a:ahLst/>
            <a:cxnLst/>
            <a:rect r="r" b="b" t="t" l="l"/>
            <a:pathLst>
              <a:path h="2805664" w="4977792">
                <a:moveTo>
                  <a:pt x="0" y="0"/>
                </a:moveTo>
                <a:lnTo>
                  <a:pt x="4977792" y="0"/>
                </a:lnTo>
                <a:lnTo>
                  <a:pt x="4977792" y="2805664"/>
                </a:lnTo>
                <a:lnTo>
                  <a:pt x="0" y="2805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709965">
            <a:off x="10096733" y="-639023"/>
            <a:ext cx="9265129" cy="3335447"/>
          </a:xfrm>
          <a:custGeom>
            <a:avLst/>
            <a:gdLst/>
            <a:ahLst/>
            <a:cxnLst/>
            <a:rect r="r" b="b" t="t" l="l"/>
            <a:pathLst>
              <a:path h="3335447" w="9265129">
                <a:moveTo>
                  <a:pt x="9265129" y="0"/>
                </a:moveTo>
                <a:lnTo>
                  <a:pt x="0" y="0"/>
                </a:lnTo>
                <a:lnTo>
                  <a:pt x="0" y="3335446"/>
                </a:lnTo>
                <a:lnTo>
                  <a:pt x="9265129" y="3335446"/>
                </a:lnTo>
                <a:lnTo>
                  <a:pt x="92651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-922086" y="8810495"/>
            <a:ext cx="5682178" cy="2045584"/>
          </a:xfrm>
          <a:custGeom>
            <a:avLst/>
            <a:gdLst/>
            <a:ahLst/>
            <a:cxnLst/>
            <a:rect r="r" b="b" t="t" l="l"/>
            <a:pathLst>
              <a:path h="2045584" w="5682178">
                <a:moveTo>
                  <a:pt x="5682178" y="0"/>
                </a:moveTo>
                <a:lnTo>
                  <a:pt x="0" y="0"/>
                </a:lnTo>
                <a:lnTo>
                  <a:pt x="0" y="2045584"/>
                </a:lnTo>
                <a:lnTo>
                  <a:pt x="5682178" y="2045584"/>
                </a:lnTo>
                <a:lnTo>
                  <a:pt x="56821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7500936">
            <a:off x="12234538" y="-1966686"/>
            <a:ext cx="3753087" cy="2645927"/>
          </a:xfrm>
          <a:custGeom>
            <a:avLst/>
            <a:gdLst/>
            <a:ahLst/>
            <a:cxnLst/>
            <a:rect r="r" b="b" t="t" l="l"/>
            <a:pathLst>
              <a:path h="2645927" w="3753087">
                <a:moveTo>
                  <a:pt x="0" y="0"/>
                </a:moveTo>
                <a:lnTo>
                  <a:pt x="3753088" y="0"/>
                </a:lnTo>
                <a:lnTo>
                  <a:pt x="3753088" y="2645926"/>
                </a:lnTo>
                <a:lnTo>
                  <a:pt x="0" y="264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500936">
            <a:off x="3031871" y="9783529"/>
            <a:ext cx="3753087" cy="2645927"/>
          </a:xfrm>
          <a:custGeom>
            <a:avLst/>
            <a:gdLst/>
            <a:ahLst/>
            <a:cxnLst/>
            <a:rect r="r" b="b" t="t" l="l"/>
            <a:pathLst>
              <a:path h="2645927" w="3753087">
                <a:moveTo>
                  <a:pt x="0" y="0"/>
                </a:moveTo>
                <a:lnTo>
                  <a:pt x="3753087" y="0"/>
                </a:lnTo>
                <a:lnTo>
                  <a:pt x="3753087" y="2645926"/>
                </a:lnTo>
                <a:lnTo>
                  <a:pt x="0" y="264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4339314"/>
            <a:ext cx="16230600" cy="3476705"/>
            <a:chOff x="0" y="0"/>
            <a:chExt cx="21640800" cy="463560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09844"/>
              <a:ext cx="2105440" cy="2024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792"/>
                </a:lnSpc>
                <a:spcBef>
                  <a:spcPct val="0"/>
                </a:spcBef>
              </a:pPr>
              <a:r>
                <a:rPr lang="en-US" sz="9137" spc="301">
                  <a:solidFill>
                    <a:srgbClr val="141313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483234"/>
              <a:ext cx="5090499" cy="1606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2"/>
                </a:lnSpc>
                <a:spcBef>
                  <a:spcPct val="0"/>
                </a:spcBef>
              </a:pPr>
              <a:r>
                <a:rPr lang="en-US" sz="2351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Recomendaciones rápidas y contextualizadas basadas en Groq y Llama 3.1.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795813"/>
              <a:ext cx="4975189" cy="589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15"/>
                </a:lnSpc>
                <a:spcBef>
                  <a:spcPct val="0"/>
                </a:spcBef>
              </a:pPr>
              <a:r>
                <a:rPr lang="en-US" b="true" sz="2653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Asesor Financiero 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582049" y="-109844"/>
              <a:ext cx="2105440" cy="2024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792"/>
                </a:lnSpc>
                <a:spcBef>
                  <a:spcPct val="0"/>
                </a:spcBef>
              </a:pPr>
              <a:r>
                <a:rPr lang="en-US" sz="9137" spc="301">
                  <a:solidFill>
                    <a:srgbClr val="141313"/>
                  </a:solidFill>
                  <a:latin typeface="Anton"/>
                  <a:ea typeface="Anton"/>
                  <a:cs typeface="Anton"/>
                  <a:sym typeface="Anton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582049" y="2483234"/>
              <a:ext cx="5090499" cy="2152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2"/>
                </a:lnSpc>
                <a:spcBef>
                  <a:spcPct val="0"/>
                </a:spcBef>
              </a:pPr>
              <a:r>
                <a:rPr lang="en-US" sz="2351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Lleva un registro y analisis de ingresos/gastos junto con indicadores personalizados y un seguimiento de metas.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582049" y="1795813"/>
              <a:ext cx="5090499" cy="589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15"/>
                </a:lnSpc>
                <a:spcBef>
                  <a:spcPct val="0"/>
                </a:spcBef>
              </a:pPr>
              <a:r>
                <a:rPr lang="en-US" b="true" sz="2653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Gestión Financiera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1168104" y="-109844"/>
              <a:ext cx="2105440" cy="2024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792"/>
                </a:lnSpc>
                <a:spcBef>
                  <a:spcPct val="0"/>
                </a:spcBef>
              </a:pPr>
              <a:r>
                <a:rPr lang="en-US" sz="9137" spc="301">
                  <a:solidFill>
                    <a:srgbClr val="141313"/>
                  </a:solidFill>
                  <a:latin typeface="Anton"/>
                  <a:ea typeface="Anton"/>
                  <a:cs typeface="Anton"/>
                  <a:sym typeface="Anton"/>
                </a:rPr>
                <a:t>03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168104" y="2483234"/>
              <a:ext cx="5090499" cy="1606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2"/>
                </a:lnSpc>
                <a:spcBef>
                  <a:spcPct val="0"/>
                </a:spcBef>
              </a:pPr>
              <a:r>
                <a:rPr lang="en-US" sz="2351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Ofrece una interfaz clara, modular y amigable para el uso diario.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168104" y="1795813"/>
              <a:ext cx="5090499" cy="589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15"/>
                </a:lnSpc>
                <a:spcBef>
                  <a:spcPct val="0"/>
                </a:spcBef>
              </a:pPr>
              <a:r>
                <a:rPr lang="en-US" b="true" sz="2653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Experiencia Intuitiva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6550301" y="-171450"/>
              <a:ext cx="2105440" cy="2024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792"/>
                </a:lnSpc>
                <a:spcBef>
                  <a:spcPct val="0"/>
                </a:spcBef>
              </a:pPr>
              <a:r>
                <a:rPr lang="en-US" sz="9137" spc="301">
                  <a:solidFill>
                    <a:srgbClr val="141313"/>
                  </a:solidFill>
                  <a:latin typeface="Anton"/>
                  <a:ea typeface="Anton"/>
                  <a:cs typeface="Anton"/>
                  <a:sym typeface="Anton"/>
                </a:rPr>
                <a:t>04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6550301" y="2483234"/>
              <a:ext cx="5090499" cy="2152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2"/>
                </a:lnSpc>
                <a:spcBef>
                  <a:spcPct val="0"/>
                </a:spcBef>
              </a:pPr>
              <a:r>
                <a:rPr lang="en-US" sz="2351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Preparado para funciones premium, hábitos inteligentes, integración de bancas y automatización.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550301" y="1795813"/>
              <a:ext cx="5090499" cy="589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15"/>
                </a:lnSpc>
                <a:spcBef>
                  <a:spcPct val="0"/>
                </a:spcBef>
              </a:pPr>
              <a:r>
                <a:rPr lang="en-US" b="true" sz="2653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Escalabilidad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1464" y="2200186"/>
            <a:ext cx="6095474" cy="152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5"/>
              </a:lnSpc>
              <a:spcBef>
                <a:spcPct val="0"/>
              </a:spcBef>
            </a:pPr>
            <a:r>
              <a:rPr lang="en-US" b="true" sz="2860">
                <a:solidFill>
                  <a:srgbClr val="E4B204"/>
                </a:solidFill>
                <a:latin typeface="Barlow 2 Bold"/>
                <a:ea typeface="Barlow 2 Bold"/>
                <a:cs typeface="Barlow 2 Bold"/>
                <a:sym typeface="Barlow 2 Bold"/>
              </a:rPr>
              <a:t>MyGoalFinance</a:t>
            </a:r>
            <a:r>
              <a:rPr lang="en-US" b="true" sz="2860">
                <a:solidFill>
                  <a:srgbClr val="F9CE46"/>
                </a:solidFill>
                <a:latin typeface="Barlow 2 Bold"/>
                <a:ea typeface="Barlow 2 Bold"/>
                <a:cs typeface="Barlow 2 Bold"/>
                <a:sym typeface="Barlow 2 Bold"/>
              </a:rPr>
              <a:t> </a:t>
            </a:r>
            <a:r>
              <a:rPr lang="en-US" sz="2860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se convertirá en un </a:t>
            </a:r>
            <a:r>
              <a:rPr lang="en-US" b="true" sz="2860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ecosistema de educación financiera personalizada</a:t>
            </a:r>
            <a:r>
              <a:rPr lang="en-US" sz="2860">
                <a:solidFill>
                  <a:srgbClr val="000000"/>
                </a:solidFill>
                <a:latin typeface="Barlow 2"/>
                <a:ea typeface="Barlow 2"/>
                <a:cs typeface="Barlow 2"/>
                <a:sym typeface="Barlow 2"/>
              </a:rPr>
              <a:t> compuesto por: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633031" y="769037"/>
            <a:ext cx="3276625" cy="2789227"/>
            <a:chOff x="0" y="0"/>
            <a:chExt cx="4368833" cy="37189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68833" cy="3718969"/>
            </a:xfrm>
            <a:custGeom>
              <a:avLst/>
              <a:gdLst/>
              <a:ahLst/>
              <a:cxnLst/>
              <a:rect r="r" b="b" t="t" l="l"/>
              <a:pathLst>
                <a:path h="3718969" w="4368833">
                  <a:moveTo>
                    <a:pt x="0" y="0"/>
                  </a:moveTo>
                  <a:lnTo>
                    <a:pt x="4368833" y="0"/>
                  </a:lnTo>
                  <a:lnTo>
                    <a:pt x="4368833" y="3718969"/>
                  </a:lnTo>
                  <a:lnTo>
                    <a:pt x="0" y="3718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314738" y="1556100"/>
              <a:ext cx="3663518" cy="10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9"/>
                </a:lnSpc>
              </a:pPr>
              <a:r>
                <a:rPr lang="en-US" b="true" sz="2263">
                  <a:solidFill>
                    <a:srgbClr val="FFFFFF"/>
                  </a:solidFill>
                  <a:latin typeface="Barlow 2 Ultra-Bold"/>
                  <a:ea typeface="Barlow 2 Ultra-Bold"/>
                  <a:cs typeface="Barlow 2 Ultra-Bold"/>
                  <a:sym typeface="Barlow 2 Ultra-Bold"/>
                </a:rPr>
                <a:t>COSTO TOTAL APP  </a:t>
              </a:r>
            </a:p>
            <a:p>
              <a:pPr algn="ctr">
                <a:lnSpc>
                  <a:spcPts val="3169"/>
                </a:lnSpc>
                <a:spcBef>
                  <a:spcPct val="0"/>
                </a:spcBef>
              </a:pPr>
              <a:r>
                <a:rPr lang="en-US" b="true" sz="2263">
                  <a:solidFill>
                    <a:srgbClr val="FFFFFF"/>
                  </a:solidFill>
                  <a:latin typeface="Barlow 2 Ultra-Bold"/>
                  <a:ea typeface="Barlow 2 Ultra-Bold"/>
                  <a:cs typeface="Barlow 2 Ultra-Bold"/>
                  <a:sym typeface="Barlow 2 Ultra-Bold"/>
                </a:rPr>
                <a:t>300UF </a:t>
              </a:r>
              <a:r>
                <a:rPr lang="en-US" sz="2263" i="true">
                  <a:solidFill>
                    <a:srgbClr val="FFFFFF"/>
                  </a:solidFill>
                  <a:latin typeface="Barlow 2 Italics"/>
                  <a:ea typeface="Barlow 2 Italics"/>
                  <a:cs typeface="Barlow 2 Italics"/>
                  <a:sym typeface="Barlow 2 Italics"/>
                </a:rPr>
                <a:t>aprox.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97130" y="2691754"/>
            <a:ext cx="1892974" cy="125410"/>
          </a:xfrm>
          <a:custGeom>
            <a:avLst/>
            <a:gdLst/>
            <a:ahLst/>
            <a:cxnLst/>
            <a:rect r="r" b="b" t="t" l="l"/>
            <a:pathLst>
              <a:path h="125410" w="1892974">
                <a:moveTo>
                  <a:pt x="0" y="0"/>
                </a:moveTo>
                <a:lnTo>
                  <a:pt x="1892973" y="0"/>
                </a:lnTo>
                <a:lnTo>
                  <a:pt x="1892973" y="125410"/>
                </a:lnTo>
                <a:lnTo>
                  <a:pt x="0" y="125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198324">
            <a:off x="-11038" y="4653789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2" y="0"/>
                </a:lnTo>
                <a:lnTo>
                  <a:pt x="3877202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5674" y="9582150"/>
            <a:ext cx="1990535" cy="4114800"/>
          </a:xfrm>
          <a:custGeom>
            <a:avLst/>
            <a:gdLst/>
            <a:ahLst/>
            <a:cxnLst/>
            <a:rect r="r" b="b" t="t" l="l"/>
            <a:pathLst>
              <a:path h="4114800" w="1990535">
                <a:moveTo>
                  <a:pt x="0" y="0"/>
                </a:moveTo>
                <a:lnTo>
                  <a:pt x="1990535" y="0"/>
                </a:lnTo>
                <a:lnTo>
                  <a:pt x="19905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284410">
            <a:off x="10853059" y="-458741"/>
            <a:ext cx="3276625" cy="2789227"/>
          </a:xfrm>
          <a:custGeom>
            <a:avLst/>
            <a:gdLst/>
            <a:ahLst/>
            <a:cxnLst/>
            <a:rect r="r" b="b" t="t" l="l"/>
            <a:pathLst>
              <a:path h="2789227" w="3276625">
                <a:moveTo>
                  <a:pt x="3276625" y="2789227"/>
                </a:moveTo>
                <a:lnTo>
                  <a:pt x="0" y="2789227"/>
                </a:lnTo>
                <a:lnTo>
                  <a:pt x="0" y="0"/>
                </a:lnTo>
                <a:lnTo>
                  <a:pt x="3276625" y="0"/>
                </a:lnTo>
                <a:lnTo>
                  <a:pt x="3276625" y="278922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07519">
            <a:off x="8308870" y="-177279"/>
            <a:ext cx="3276625" cy="2789227"/>
          </a:xfrm>
          <a:custGeom>
            <a:avLst/>
            <a:gdLst/>
            <a:ahLst/>
            <a:cxnLst/>
            <a:rect r="r" b="b" t="t" l="l"/>
            <a:pathLst>
              <a:path h="2789227" w="3276625">
                <a:moveTo>
                  <a:pt x="0" y="0"/>
                </a:moveTo>
                <a:lnTo>
                  <a:pt x="3276625" y="0"/>
                </a:lnTo>
                <a:lnTo>
                  <a:pt x="3276625" y="2789227"/>
                </a:lnTo>
                <a:lnTo>
                  <a:pt x="0" y="27892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284410">
            <a:off x="4200615" y="-672603"/>
            <a:ext cx="3276625" cy="2789227"/>
          </a:xfrm>
          <a:custGeom>
            <a:avLst/>
            <a:gdLst/>
            <a:ahLst/>
            <a:cxnLst/>
            <a:rect r="r" b="b" t="t" l="l"/>
            <a:pathLst>
              <a:path h="2789227" w="3276625">
                <a:moveTo>
                  <a:pt x="3276625" y="2789227"/>
                </a:moveTo>
                <a:lnTo>
                  <a:pt x="0" y="2789227"/>
                </a:lnTo>
                <a:lnTo>
                  <a:pt x="0" y="0"/>
                </a:lnTo>
                <a:lnTo>
                  <a:pt x="3276625" y="0"/>
                </a:lnTo>
                <a:lnTo>
                  <a:pt x="3276625" y="278922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13068">
            <a:off x="3745330" y="-1889431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7315200" y="0"/>
                </a:moveTo>
                <a:lnTo>
                  <a:pt x="0" y="0"/>
                </a:lnTo>
                <a:lnTo>
                  <a:pt x="0" y="4083212"/>
                </a:lnTo>
                <a:lnTo>
                  <a:pt x="7315200" y="408321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3359">
            <a:off x="7197557" y="-2232097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1"/>
                </a:lnTo>
                <a:lnTo>
                  <a:pt x="0" y="40832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3029407" y="-3726565"/>
            <a:ext cx="2596437" cy="5367311"/>
          </a:xfrm>
          <a:custGeom>
            <a:avLst/>
            <a:gdLst/>
            <a:ahLst/>
            <a:cxnLst/>
            <a:rect r="r" b="b" t="t" l="l"/>
            <a:pathLst>
              <a:path h="5367311" w="2596437">
                <a:moveTo>
                  <a:pt x="0" y="0"/>
                </a:moveTo>
                <a:lnTo>
                  <a:pt x="2596436" y="0"/>
                </a:lnTo>
                <a:lnTo>
                  <a:pt x="2596436" y="5367311"/>
                </a:lnTo>
                <a:lnTo>
                  <a:pt x="0" y="53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68687" y="3335701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2" y="0"/>
                </a:lnTo>
                <a:lnTo>
                  <a:pt x="3877202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68687" y="8661245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2" y="0"/>
                </a:lnTo>
                <a:lnTo>
                  <a:pt x="3877202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24920" y="8661245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2" y="0"/>
                </a:lnTo>
                <a:lnTo>
                  <a:pt x="3877202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6464172">
            <a:off x="89068" y="7335099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3877203" y="168897"/>
                </a:moveTo>
                <a:lnTo>
                  <a:pt x="0" y="168897"/>
                </a:lnTo>
                <a:lnTo>
                  <a:pt x="0" y="0"/>
                </a:lnTo>
                <a:lnTo>
                  <a:pt x="3877203" y="0"/>
                </a:lnTo>
                <a:lnTo>
                  <a:pt x="3877203" y="1688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65791" y="2708243"/>
            <a:ext cx="1321946" cy="13219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B2A2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548073" y="2045404"/>
            <a:ext cx="4528043" cy="3074741"/>
            <a:chOff x="0" y="0"/>
            <a:chExt cx="6037391" cy="40996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6152" y="0"/>
              <a:ext cx="5181239" cy="4099655"/>
            </a:xfrm>
            <a:custGeom>
              <a:avLst/>
              <a:gdLst/>
              <a:ahLst/>
              <a:cxnLst/>
              <a:rect r="r" b="b" t="t" l="l"/>
              <a:pathLst>
                <a:path h="4099655" w="5181239">
                  <a:moveTo>
                    <a:pt x="0" y="0"/>
                  </a:moveTo>
                  <a:lnTo>
                    <a:pt x="5181239" y="0"/>
                  </a:lnTo>
                  <a:lnTo>
                    <a:pt x="5181239" y="4099655"/>
                  </a:lnTo>
                  <a:lnTo>
                    <a:pt x="0" y="4099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0" y="333573"/>
              <a:ext cx="5356927" cy="2863021"/>
              <a:chOff x="0" y="0"/>
              <a:chExt cx="2979669" cy="15924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979669" cy="1592490"/>
              </a:xfrm>
              <a:custGeom>
                <a:avLst/>
                <a:gdLst/>
                <a:ahLst/>
                <a:cxnLst/>
                <a:rect r="r" b="b" t="t" l="l"/>
                <a:pathLst>
                  <a:path h="1592490" w="2979669">
                    <a:moveTo>
                      <a:pt x="2855209" y="1592490"/>
                    </a:moveTo>
                    <a:lnTo>
                      <a:pt x="124460" y="1592490"/>
                    </a:lnTo>
                    <a:cubicBezTo>
                      <a:pt x="55880" y="1592490"/>
                      <a:pt x="0" y="1536610"/>
                      <a:pt x="0" y="14680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468030"/>
                    </a:lnTo>
                    <a:cubicBezTo>
                      <a:pt x="2979669" y="1536610"/>
                      <a:pt x="2923789" y="1592490"/>
                      <a:pt x="2855209" y="15924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21" id="21"/>
          <p:cNvGrpSpPr/>
          <p:nvPr/>
        </p:nvGrpSpPr>
        <p:grpSpPr>
          <a:xfrm rot="0">
            <a:off x="1665791" y="8036198"/>
            <a:ext cx="1321946" cy="132194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B2A2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48073" y="7623539"/>
            <a:ext cx="4528043" cy="3074741"/>
            <a:chOff x="0" y="0"/>
            <a:chExt cx="6037391" cy="40996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56152" y="0"/>
              <a:ext cx="5181239" cy="4099655"/>
            </a:xfrm>
            <a:custGeom>
              <a:avLst/>
              <a:gdLst/>
              <a:ahLst/>
              <a:cxnLst/>
              <a:rect r="r" b="b" t="t" l="l"/>
              <a:pathLst>
                <a:path h="4099655" w="5181239">
                  <a:moveTo>
                    <a:pt x="0" y="0"/>
                  </a:moveTo>
                  <a:lnTo>
                    <a:pt x="5181239" y="0"/>
                  </a:lnTo>
                  <a:lnTo>
                    <a:pt x="5181239" y="4099655"/>
                  </a:lnTo>
                  <a:lnTo>
                    <a:pt x="0" y="4099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0" y="0"/>
              <a:ext cx="5356927" cy="2863021"/>
              <a:chOff x="0" y="0"/>
              <a:chExt cx="2979669" cy="15924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979669" cy="1592490"/>
              </a:xfrm>
              <a:custGeom>
                <a:avLst/>
                <a:gdLst/>
                <a:ahLst/>
                <a:cxnLst/>
                <a:rect r="r" b="b" t="t" l="l"/>
                <a:pathLst>
                  <a:path h="1592490" w="2979669">
                    <a:moveTo>
                      <a:pt x="2855209" y="1592490"/>
                    </a:moveTo>
                    <a:lnTo>
                      <a:pt x="124460" y="1592490"/>
                    </a:lnTo>
                    <a:cubicBezTo>
                      <a:pt x="55880" y="1592490"/>
                      <a:pt x="0" y="1536610"/>
                      <a:pt x="0" y="14680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468030"/>
                    </a:lnTo>
                    <a:cubicBezTo>
                      <a:pt x="2979669" y="1536610"/>
                      <a:pt x="2923789" y="1592490"/>
                      <a:pt x="2855209" y="15924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28" id="28"/>
          <p:cNvSpPr/>
          <p:nvPr/>
        </p:nvSpPr>
        <p:spPr>
          <a:xfrm flipH="false" flipV="false" rot="1235975">
            <a:off x="-891484" y="9259563"/>
            <a:ext cx="2192190" cy="1594818"/>
          </a:xfrm>
          <a:custGeom>
            <a:avLst/>
            <a:gdLst/>
            <a:ahLst/>
            <a:cxnLst/>
            <a:rect r="r" b="b" t="t" l="l"/>
            <a:pathLst>
              <a:path h="1594818" w="2192190">
                <a:moveTo>
                  <a:pt x="0" y="0"/>
                </a:moveTo>
                <a:lnTo>
                  <a:pt x="2192190" y="0"/>
                </a:lnTo>
                <a:lnTo>
                  <a:pt x="2192190" y="1594818"/>
                </a:lnTo>
                <a:lnTo>
                  <a:pt x="0" y="1594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72743" y="3955202"/>
            <a:ext cx="530188" cy="321426"/>
          </a:xfrm>
          <a:custGeom>
            <a:avLst/>
            <a:gdLst/>
            <a:ahLst/>
            <a:cxnLst/>
            <a:rect r="r" b="b" t="t" l="l"/>
            <a:pathLst>
              <a:path h="321426" w="530188">
                <a:moveTo>
                  <a:pt x="0" y="0"/>
                </a:moveTo>
                <a:lnTo>
                  <a:pt x="530187" y="0"/>
                </a:lnTo>
                <a:lnTo>
                  <a:pt x="530187" y="321426"/>
                </a:lnTo>
                <a:lnTo>
                  <a:pt x="0" y="3214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0676830">
            <a:off x="-1094911" y="-1042361"/>
            <a:ext cx="3774428" cy="2660971"/>
          </a:xfrm>
          <a:custGeom>
            <a:avLst/>
            <a:gdLst/>
            <a:ahLst/>
            <a:cxnLst/>
            <a:rect r="r" b="b" t="t" l="l"/>
            <a:pathLst>
              <a:path h="2660971" w="3774428">
                <a:moveTo>
                  <a:pt x="0" y="0"/>
                </a:moveTo>
                <a:lnTo>
                  <a:pt x="3774428" y="0"/>
                </a:lnTo>
                <a:lnTo>
                  <a:pt x="3774428" y="2660972"/>
                </a:lnTo>
                <a:lnTo>
                  <a:pt x="0" y="266097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1101959" y="-1511125"/>
            <a:ext cx="3029522" cy="4114800"/>
          </a:xfrm>
          <a:custGeom>
            <a:avLst/>
            <a:gdLst/>
            <a:ahLst/>
            <a:cxnLst/>
            <a:rect r="r" b="b" t="t" l="l"/>
            <a:pathLst>
              <a:path h="4114800" w="3029522">
                <a:moveTo>
                  <a:pt x="0" y="0"/>
                </a:moveTo>
                <a:lnTo>
                  <a:pt x="3029522" y="0"/>
                </a:lnTo>
                <a:lnTo>
                  <a:pt x="30295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466678" y="-2389129"/>
            <a:ext cx="5200379" cy="4114800"/>
          </a:xfrm>
          <a:custGeom>
            <a:avLst/>
            <a:gdLst/>
            <a:ahLst/>
            <a:cxnLst/>
            <a:rect r="r" b="b" t="t" l="l"/>
            <a:pathLst>
              <a:path h="4114800" w="5200379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50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354193" y="9258300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1" y="0"/>
                </a:lnTo>
                <a:lnTo>
                  <a:pt x="7300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824068" y="8745694"/>
            <a:ext cx="2598707" cy="2296608"/>
          </a:xfrm>
          <a:custGeom>
            <a:avLst/>
            <a:gdLst/>
            <a:ahLst/>
            <a:cxnLst/>
            <a:rect r="r" b="b" t="t" l="l"/>
            <a:pathLst>
              <a:path h="2296608" w="2598707">
                <a:moveTo>
                  <a:pt x="0" y="0"/>
                </a:moveTo>
                <a:lnTo>
                  <a:pt x="2598707" y="0"/>
                </a:lnTo>
                <a:lnTo>
                  <a:pt x="2598707" y="2296608"/>
                </a:lnTo>
                <a:lnTo>
                  <a:pt x="0" y="229660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50000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6906628" y="-1217334"/>
            <a:ext cx="2762744" cy="2434668"/>
          </a:xfrm>
          <a:custGeom>
            <a:avLst/>
            <a:gdLst/>
            <a:ahLst/>
            <a:cxnLst/>
            <a:rect r="r" b="b" t="t" l="l"/>
            <a:pathLst>
              <a:path h="2434668" w="2762744">
                <a:moveTo>
                  <a:pt x="0" y="0"/>
                </a:moveTo>
                <a:lnTo>
                  <a:pt x="2762744" y="0"/>
                </a:lnTo>
                <a:lnTo>
                  <a:pt x="2762744" y="2434668"/>
                </a:lnTo>
                <a:lnTo>
                  <a:pt x="0" y="2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260378" y="5951107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3" y="0"/>
                </a:lnTo>
                <a:lnTo>
                  <a:pt x="3877203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45912" y="5374583"/>
            <a:ext cx="1321946" cy="132194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B2A2A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828194" y="4871474"/>
            <a:ext cx="4827975" cy="3074741"/>
            <a:chOff x="0" y="0"/>
            <a:chExt cx="6437300" cy="40996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56062" y="0"/>
              <a:ext cx="5181239" cy="4099655"/>
            </a:xfrm>
            <a:custGeom>
              <a:avLst/>
              <a:gdLst/>
              <a:ahLst/>
              <a:cxnLst/>
              <a:rect r="r" b="b" t="t" l="l"/>
              <a:pathLst>
                <a:path h="4099655" w="5181239">
                  <a:moveTo>
                    <a:pt x="0" y="0"/>
                  </a:moveTo>
                  <a:lnTo>
                    <a:pt x="5181238" y="0"/>
                  </a:lnTo>
                  <a:lnTo>
                    <a:pt x="5181238" y="4099655"/>
                  </a:lnTo>
                  <a:lnTo>
                    <a:pt x="0" y="4099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0" y="120599"/>
              <a:ext cx="5356927" cy="2863021"/>
              <a:chOff x="0" y="0"/>
              <a:chExt cx="2979669" cy="15924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979669" cy="1592490"/>
              </a:xfrm>
              <a:custGeom>
                <a:avLst/>
                <a:gdLst/>
                <a:ahLst/>
                <a:cxnLst/>
                <a:rect r="r" b="b" t="t" l="l"/>
                <a:pathLst>
                  <a:path h="1592490" w="2979669">
                    <a:moveTo>
                      <a:pt x="2855209" y="1592490"/>
                    </a:moveTo>
                    <a:lnTo>
                      <a:pt x="124460" y="1592490"/>
                    </a:lnTo>
                    <a:cubicBezTo>
                      <a:pt x="55880" y="1592490"/>
                      <a:pt x="0" y="1536610"/>
                      <a:pt x="0" y="14680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468030"/>
                    </a:lnTo>
                    <a:cubicBezTo>
                      <a:pt x="2979669" y="1536610"/>
                      <a:pt x="2923789" y="1592490"/>
                      <a:pt x="2855209" y="15924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421567" y="493288"/>
              <a:ext cx="436096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spc="76" b="true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Interfaz de usuario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21567" y="1220915"/>
              <a:ext cx="4513792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2B2A2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Mejoras en UI/UX y primeros ajustes visuales de la app.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22390" y="4121365"/>
            <a:ext cx="3843220" cy="3728408"/>
            <a:chOff x="0" y="0"/>
            <a:chExt cx="5124293" cy="4971210"/>
          </a:xfrm>
        </p:grpSpPr>
        <p:sp>
          <p:nvSpPr>
            <p:cNvPr name="Freeform 47" id="47"/>
            <p:cNvSpPr/>
            <p:nvPr/>
          </p:nvSpPr>
          <p:spPr>
            <a:xfrm flipH="false" flipV="false" rot="-9717108">
              <a:off x="500338" y="543210"/>
              <a:ext cx="4123616" cy="3884790"/>
            </a:xfrm>
            <a:custGeom>
              <a:avLst/>
              <a:gdLst/>
              <a:ahLst/>
              <a:cxnLst/>
              <a:rect r="r" b="b" t="t" l="l"/>
              <a:pathLst>
                <a:path h="3884790" w="4123616">
                  <a:moveTo>
                    <a:pt x="0" y="0"/>
                  </a:moveTo>
                  <a:lnTo>
                    <a:pt x="4123617" y="0"/>
                  </a:lnTo>
                  <a:lnTo>
                    <a:pt x="4123617" y="3884790"/>
                  </a:lnTo>
                  <a:lnTo>
                    <a:pt x="0" y="3884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636264" y="1022440"/>
              <a:ext cx="2020823" cy="2063139"/>
            </a:xfrm>
            <a:custGeom>
              <a:avLst/>
              <a:gdLst/>
              <a:ahLst/>
              <a:cxnLst/>
              <a:rect r="r" b="b" t="t" l="l"/>
              <a:pathLst>
                <a:path h="2063139" w="2020823">
                  <a:moveTo>
                    <a:pt x="0" y="0"/>
                  </a:moveTo>
                  <a:lnTo>
                    <a:pt x="2020824" y="0"/>
                  </a:lnTo>
                  <a:lnTo>
                    <a:pt x="2020824" y="2063138"/>
                  </a:lnTo>
                  <a:lnTo>
                    <a:pt x="0" y="2063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-19095" t="-21867" r="-21546" b="-1589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1457791" y="3085368"/>
              <a:ext cx="2295885" cy="81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662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SCRUM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1862196" y="3372704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2" y="0"/>
                </a:lnTo>
                <a:lnTo>
                  <a:pt x="3877202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417115" y="5988110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2" y="0"/>
                </a:lnTo>
                <a:lnTo>
                  <a:pt x="3877202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4320000">
            <a:off x="14579465" y="4704174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0" y="0"/>
                </a:moveTo>
                <a:lnTo>
                  <a:pt x="3877203" y="0"/>
                </a:lnTo>
                <a:lnTo>
                  <a:pt x="3877203" y="168897"/>
                </a:lnTo>
                <a:lnTo>
                  <a:pt x="0" y="16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sp>
        <p:nvSpPr>
          <p:cNvPr name="Freeform 53" id="53"/>
          <p:cNvSpPr/>
          <p:nvPr/>
        </p:nvSpPr>
        <p:spPr>
          <a:xfrm flipH="true" flipV="true" rot="-4320000">
            <a:off x="14579465" y="7332731"/>
            <a:ext cx="3877202" cy="168897"/>
          </a:xfrm>
          <a:custGeom>
            <a:avLst/>
            <a:gdLst/>
            <a:ahLst/>
            <a:cxnLst/>
            <a:rect r="r" b="b" t="t" l="l"/>
            <a:pathLst>
              <a:path h="168897" w="3877202">
                <a:moveTo>
                  <a:pt x="3877203" y="168897"/>
                </a:moveTo>
                <a:lnTo>
                  <a:pt x="0" y="168897"/>
                </a:lnTo>
                <a:lnTo>
                  <a:pt x="0" y="0"/>
                </a:lnTo>
                <a:lnTo>
                  <a:pt x="3877203" y="0"/>
                </a:lnTo>
                <a:lnTo>
                  <a:pt x="3877203" y="1688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603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5502122" y="2717561"/>
            <a:ext cx="1321946" cy="1321946"/>
            <a:chOff x="0" y="0"/>
            <a:chExt cx="1762595" cy="1762595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1762595" cy="1762595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49029" y="380917"/>
              <a:ext cx="1064536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 spc="134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54484" y="2215915"/>
            <a:ext cx="4657571" cy="3074741"/>
            <a:chOff x="0" y="0"/>
            <a:chExt cx="6210094" cy="40996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81239" cy="4099655"/>
            </a:xfrm>
            <a:custGeom>
              <a:avLst/>
              <a:gdLst/>
              <a:ahLst/>
              <a:cxnLst/>
              <a:rect r="r" b="b" t="t" l="l"/>
              <a:pathLst>
                <a:path h="4099655" w="5181239">
                  <a:moveTo>
                    <a:pt x="0" y="0"/>
                  </a:moveTo>
                  <a:lnTo>
                    <a:pt x="5181239" y="0"/>
                  </a:lnTo>
                  <a:lnTo>
                    <a:pt x="5181239" y="4099655"/>
                  </a:lnTo>
                  <a:lnTo>
                    <a:pt x="0" y="4099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1" id="61"/>
            <p:cNvGrpSpPr/>
            <p:nvPr/>
          </p:nvGrpSpPr>
          <p:grpSpPr>
            <a:xfrm rot="0">
              <a:off x="853167" y="110875"/>
              <a:ext cx="5356927" cy="2863021"/>
              <a:chOff x="0" y="0"/>
              <a:chExt cx="2979669" cy="159249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979669" cy="1592490"/>
              </a:xfrm>
              <a:custGeom>
                <a:avLst/>
                <a:gdLst/>
                <a:ahLst/>
                <a:cxnLst/>
                <a:rect r="r" b="b" t="t" l="l"/>
                <a:pathLst>
                  <a:path h="1592490" w="2979669">
                    <a:moveTo>
                      <a:pt x="2855209" y="1592490"/>
                    </a:moveTo>
                    <a:lnTo>
                      <a:pt x="124460" y="1592490"/>
                    </a:lnTo>
                    <a:cubicBezTo>
                      <a:pt x="55880" y="1592490"/>
                      <a:pt x="0" y="1536610"/>
                      <a:pt x="0" y="14680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468030"/>
                    </a:lnTo>
                    <a:cubicBezTo>
                      <a:pt x="2979669" y="1536610"/>
                      <a:pt x="2923789" y="1592490"/>
                      <a:pt x="2855209" y="15924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63" id="63"/>
            <p:cNvSpPr txBox="true"/>
            <p:nvPr/>
          </p:nvSpPr>
          <p:spPr>
            <a:xfrm rot="0">
              <a:off x="1274734" y="483565"/>
              <a:ext cx="4513792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spc="76" b="true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Integración de IA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274734" y="1211192"/>
              <a:ext cx="4513792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2B2A2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conexión con Groq y Llama 3.1 y ajustes del agente en el chatbot.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163095" y="5496034"/>
            <a:ext cx="1321946" cy="1321946"/>
            <a:chOff x="0" y="0"/>
            <a:chExt cx="1762595" cy="1762595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1762595" cy="1762595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349029" y="380917"/>
              <a:ext cx="1064536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 spc="134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665380" y="4871474"/>
            <a:ext cx="4658960" cy="3074741"/>
            <a:chOff x="0" y="0"/>
            <a:chExt cx="6211947" cy="4099655"/>
          </a:xfrm>
        </p:grpSpPr>
        <p:sp>
          <p:nvSpPr>
            <p:cNvPr name="Freeform 71" id="71"/>
            <p:cNvSpPr/>
            <p:nvPr/>
          </p:nvSpPr>
          <p:spPr>
            <a:xfrm flipH="true" flipV="false" rot="0">
              <a:off x="0" y="0"/>
              <a:ext cx="5181239" cy="4099655"/>
            </a:xfrm>
            <a:custGeom>
              <a:avLst/>
              <a:gdLst/>
              <a:ahLst/>
              <a:cxnLst/>
              <a:rect r="r" b="b" t="t" l="l"/>
              <a:pathLst>
                <a:path h="4099655" w="5181239">
                  <a:moveTo>
                    <a:pt x="5181239" y="0"/>
                  </a:moveTo>
                  <a:lnTo>
                    <a:pt x="0" y="0"/>
                  </a:lnTo>
                  <a:lnTo>
                    <a:pt x="0" y="4099655"/>
                  </a:lnTo>
                  <a:lnTo>
                    <a:pt x="5181239" y="4099655"/>
                  </a:lnTo>
                  <a:lnTo>
                    <a:pt x="5181239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2" id="72"/>
            <p:cNvGrpSpPr/>
            <p:nvPr/>
          </p:nvGrpSpPr>
          <p:grpSpPr>
            <a:xfrm rot="0">
              <a:off x="855020" y="120599"/>
              <a:ext cx="5356927" cy="2863021"/>
              <a:chOff x="0" y="0"/>
              <a:chExt cx="2979669" cy="159249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979669" cy="1592490"/>
              </a:xfrm>
              <a:custGeom>
                <a:avLst/>
                <a:gdLst/>
                <a:ahLst/>
                <a:cxnLst/>
                <a:rect r="r" b="b" t="t" l="l"/>
                <a:pathLst>
                  <a:path h="1592490" w="2979669">
                    <a:moveTo>
                      <a:pt x="2855209" y="1592490"/>
                    </a:moveTo>
                    <a:lnTo>
                      <a:pt x="124460" y="1592490"/>
                    </a:lnTo>
                    <a:cubicBezTo>
                      <a:pt x="55880" y="1592490"/>
                      <a:pt x="0" y="1536610"/>
                      <a:pt x="0" y="14680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468030"/>
                    </a:lnTo>
                    <a:cubicBezTo>
                      <a:pt x="2979669" y="1536610"/>
                      <a:pt x="2923789" y="1592490"/>
                      <a:pt x="2855209" y="15924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74" id="74"/>
            <p:cNvSpPr txBox="true"/>
            <p:nvPr/>
          </p:nvSpPr>
          <p:spPr>
            <a:xfrm rot="0">
              <a:off x="1403587" y="493288"/>
              <a:ext cx="450195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spc="67" b="true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Optimización y Pruebas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1403587" y="1220915"/>
              <a:ext cx="4513792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2B2A2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Correción de errores, optimización UX y pruebas funcionales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502122" y="8060592"/>
            <a:ext cx="1321946" cy="1321946"/>
            <a:chOff x="0" y="0"/>
            <a:chExt cx="1762595" cy="1762595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0" y="0"/>
              <a:ext cx="1762595" cy="1762595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349029" y="380917"/>
              <a:ext cx="1064536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 spc="134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297154" y="7672061"/>
            <a:ext cx="4662525" cy="3074741"/>
            <a:chOff x="0" y="0"/>
            <a:chExt cx="6216700" cy="409965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81239" cy="4099655"/>
            </a:xfrm>
            <a:custGeom>
              <a:avLst/>
              <a:gdLst/>
              <a:ahLst/>
              <a:cxnLst/>
              <a:rect r="r" b="b" t="t" l="l"/>
              <a:pathLst>
                <a:path h="4099655" w="5181239">
                  <a:moveTo>
                    <a:pt x="0" y="0"/>
                  </a:moveTo>
                  <a:lnTo>
                    <a:pt x="5181239" y="0"/>
                  </a:lnTo>
                  <a:lnTo>
                    <a:pt x="5181239" y="4099655"/>
                  </a:lnTo>
                  <a:lnTo>
                    <a:pt x="0" y="4099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3" id="83"/>
            <p:cNvGrpSpPr/>
            <p:nvPr/>
          </p:nvGrpSpPr>
          <p:grpSpPr>
            <a:xfrm rot="0">
              <a:off x="732773" y="0"/>
              <a:ext cx="5356927" cy="2863021"/>
              <a:chOff x="0" y="0"/>
              <a:chExt cx="2979669" cy="159249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2979669" cy="1592490"/>
              </a:xfrm>
              <a:custGeom>
                <a:avLst/>
                <a:gdLst/>
                <a:ahLst/>
                <a:cxnLst/>
                <a:rect r="r" b="b" t="t" l="l"/>
                <a:pathLst>
                  <a:path h="1592490" w="2979669">
                    <a:moveTo>
                      <a:pt x="2855209" y="1592490"/>
                    </a:moveTo>
                    <a:lnTo>
                      <a:pt x="124460" y="1592490"/>
                    </a:lnTo>
                    <a:cubicBezTo>
                      <a:pt x="55880" y="1592490"/>
                      <a:pt x="0" y="1536610"/>
                      <a:pt x="0" y="14680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468030"/>
                    </a:lnTo>
                    <a:cubicBezTo>
                      <a:pt x="2979669" y="1536610"/>
                      <a:pt x="2923789" y="1592490"/>
                      <a:pt x="2855209" y="159249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85" id="85"/>
            <p:cNvSpPr txBox="true"/>
            <p:nvPr/>
          </p:nvSpPr>
          <p:spPr>
            <a:xfrm rot="0">
              <a:off x="1281341" y="1100316"/>
              <a:ext cx="4935360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2B2A2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Feedback con usuarios, preparación para examen transversal y cierre de proyecto.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1281341" y="363164"/>
              <a:ext cx="4513792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 spc="73" b="true">
                  <a:solidFill>
                    <a:srgbClr val="2B2A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Validación y Cierre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-9107519">
            <a:off x="7310516" y="-19453"/>
            <a:ext cx="3276625" cy="2789227"/>
          </a:xfrm>
          <a:custGeom>
            <a:avLst/>
            <a:gdLst/>
            <a:ahLst/>
            <a:cxnLst/>
            <a:rect r="r" b="b" t="t" l="l"/>
            <a:pathLst>
              <a:path h="2789227" w="3276625">
                <a:moveTo>
                  <a:pt x="0" y="0"/>
                </a:moveTo>
                <a:lnTo>
                  <a:pt x="3276625" y="0"/>
                </a:lnTo>
                <a:lnTo>
                  <a:pt x="3276625" y="2789227"/>
                </a:lnTo>
                <a:lnTo>
                  <a:pt x="0" y="27892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1207684" y="5641221"/>
            <a:ext cx="79840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134">
                <a:solidFill>
                  <a:srgbClr val="2B2A2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315472" y="912534"/>
            <a:ext cx="96570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B2A2A"/>
                </a:solidFill>
                <a:latin typeface="Barlow 2"/>
                <a:ea typeface="Barlow 2"/>
                <a:cs typeface="Barlow 2"/>
                <a:sym typeface="Barlow 2"/>
              </a:rPr>
              <a:t>6 Sprints de dos semanas con mejoras iterativas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927563" y="2974881"/>
            <a:ext cx="79840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134">
                <a:solidFill>
                  <a:srgbClr val="2B2A2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864248" y="2565575"/>
            <a:ext cx="34621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76" b="true">
                <a:solidFill>
                  <a:srgbClr val="2B2A2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Inicio y Planificación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864248" y="3113677"/>
            <a:ext cx="3385344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B2A2A"/>
                </a:solidFill>
                <a:latin typeface="Canva Sans"/>
                <a:ea typeface="Canva Sans"/>
                <a:cs typeface="Canva Sans"/>
                <a:sym typeface="Canva Sans"/>
              </a:rPr>
              <a:t>Definición de backlog, requerimientos, roles, entornos de trabajo.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927563" y="8302836"/>
            <a:ext cx="79840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134">
                <a:solidFill>
                  <a:srgbClr val="2B2A2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864248" y="7893530"/>
            <a:ext cx="346212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67" b="true">
                <a:solidFill>
                  <a:srgbClr val="2B2A2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y Base de datos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3864248" y="8441632"/>
            <a:ext cx="3385344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B2A2A"/>
                </a:solidFill>
                <a:latin typeface="Canva Sans"/>
                <a:ea typeface="Canva Sans"/>
                <a:cs typeface="Canva Sans"/>
                <a:sym typeface="Canva Sans"/>
              </a:rPr>
              <a:t>Configuración de servicios, API interna y conexión con PostgreSQL.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679656" y="279438"/>
            <a:ext cx="6928689" cy="7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1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Metodología de Trabajo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812267" y="1449139"/>
            <a:ext cx="653706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i="true">
                <a:solidFill>
                  <a:srgbClr val="2B2A2A"/>
                </a:solidFill>
                <a:latin typeface="Barlow 2 Italics"/>
                <a:ea typeface="Barlow 2 Italics"/>
                <a:cs typeface="Barlow 2 Italics"/>
                <a:sym typeface="Barlow 2 Italics"/>
              </a:rPr>
              <a:t>4 historias de usuario por sprint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0492">
            <a:off x="-947169" y="207771"/>
            <a:ext cx="3951737" cy="3423192"/>
          </a:xfrm>
          <a:custGeom>
            <a:avLst/>
            <a:gdLst/>
            <a:ahLst/>
            <a:cxnLst/>
            <a:rect r="r" b="b" t="t" l="l"/>
            <a:pathLst>
              <a:path h="3423192" w="3951737">
                <a:moveTo>
                  <a:pt x="0" y="0"/>
                </a:moveTo>
                <a:lnTo>
                  <a:pt x="3951738" y="0"/>
                </a:lnTo>
                <a:lnTo>
                  <a:pt x="3951738" y="3423193"/>
                </a:lnTo>
                <a:lnTo>
                  <a:pt x="0" y="3423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217577" y="1512925"/>
            <a:ext cx="10337112" cy="87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1"/>
              </a:lnSpc>
            </a:pPr>
            <a:r>
              <a:rPr lang="en-US" b="true" sz="6118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Competencias Profesionales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1391799" y="-786928"/>
            <a:ext cx="9388364" cy="3379811"/>
          </a:xfrm>
          <a:custGeom>
            <a:avLst/>
            <a:gdLst/>
            <a:ahLst/>
            <a:cxnLst/>
            <a:rect r="r" b="b" t="t" l="l"/>
            <a:pathLst>
              <a:path h="3379811" w="9388364">
                <a:moveTo>
                  <a:pt x="0" y="3379811"/>
                </a:moveTo>
                <a:lnTo>
                  <a:pt x="9388364" y="3379811"/>
                </a:lnTo>
                <a:lnTo>
                  <a:pt x="9388364" y="0"/>
                </a:lnTo>
                <a:lnTo>
                  <a:pt x="0" y="0"/>
                </a:lnTo>
                <a:lnTo>
                  <a:pt x="0" y="33798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0676830">
            <a:off x="15552009" y="7833599"/>
            <a:ext cx="5471982" cy="3857748"/>
          </a:xfrm>
          <a:custGeom>
            <a:avLst/>
            <a:gdLst/>
            <a:ahLst/>
            <a:cxnLst/>
            <a:rect r="r" b="b" t="t" l="l"/>
            <a:pathLst>
              <a:path h="3857748" w="5471982">
                <a:moveTo>
                  <a:pt x="0" y="0"/>
                </a:moveTo>
                <a:lnTo>
                  <a:pt x="5471982" y="0"/>
                </a:lnTo>
                <a:lnTo>
                  <a:pt x="5471982" y="3857748"/>
                </a:lnTo>
                <a:lnTo>
                  <a:pt x="0" y="3857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8100000">
            <a:off x="-3427620" y="7763211"/>
            <a:ext cx="9388364" cy="3379811"/>
          </a:xfrm>
          <a:custGeom>
            <a:avLst/>
            <a:gdLst/>
            <a:ahLst/>
            <a:cxnLst/>
            <a:rect r="r" b="b" t="t" l="l"/>
            <a:pathLst>
              <a:path h="3379811" w="9388364">
                <a:moveTo>
                  <a:pt x="0" y="3379811"/>
                </a:moveTo>
                <a:lnTo>
                  <a:pt x="9388364" y="3379811"/>
                </a:lnTo>
                <a:lnTo>
                  <a:pt x="9388364" y="0"/>
                </a:lnTo>
                <a:lnTo>
                  <a:pt x="0" y="0"/>
                </a:lnTo>
                <a:lnTo>
                  <a:pt x="0" y="33798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9145630">
            <a:off x="13587838" y="-1502971"/>
            <a:ext cx="4263747" cy="3005942"/>
          </a:xfrm>
          <a:custGeom>
            <a:avLst/>
            <a:gdLst/>
            <a:ahLst/>
            <a:cxnLst/>
            <a:rect r="r" b="b" t="t" l="l"/>
            <a:pathLst>
              <a:path h="3005942" w="4263747">
                <a:moveTo>
                  <a:pt x="0" y="0"/>
                </a:moveTo>
                <a:lnTo>
                  <a:pt x="4263747" y="0"/>
                </a:lnTo>
                <a:lnTo>
                  <a:pt x="4263747" y="3005942"/>
                </a:lnTo>
                <a:lnTo>
                  <a:pt x="0" y="3005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998101" y="3086100"/>
            <a:ext cx="2973793" cy="5610803"/>
            <a:chOff x="0" y="0"/>
            <a:chExt cx="3965057" cy="74810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560705"/>
              <a:ext cx="3965057" cy="2920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Desarrollamos la solución siguiendo técnicas sistemáticas que estructuran el proceso de construcción, integración y mantenimiento del software para cumplir los objetivos del proyecto.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687695"/>
              <a:ext cx="3965057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100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Desarrollo de Software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182498" y="0"/>
              <a:ext cx="3192100" cy="3474394"/>
            </a:xfrm>
            <a:custGeom>
              <a:avLst/>
              <a:gdLst/>
              <a:ahLst/>
              <a:cxnLst/>
              <a:rect r="r" b="b" t="t" l="l"/>
              <a:pathLst>
                <a:path h="3474394" w="3192100">
                  <a:moveTo>
                    <a:pt x="0" y="0"/>
                  </a:moveTo>
                  <a:lnTo>
                    <a:pt x="3192100" y="0"/>
                  </a:lnTo>
                  <a:lnTo>
                    <a:pt x="3192100" y="3474394"/>
                  </a:lnTo>
                  <a:lnTo>
                    <a:pt x="0" y="3474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86134" y="3086100"/>
            <a:ext cx="2973793" cy="5296478"/>
            <a:chOff x="0" y="0"/>
            <a:chExt cx="3965057" cy="706197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560705"/>
              <a:ext cx="3965057" cy="250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Diseñamos y construimos modelos de datos escalables que responden a las necesidades del sistema y permiten un crecimiento ordenado en el tiempo.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602" y="3687695"/>
              <a:ext cx="3962455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100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Modelamiento de Datos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236602" y="0"/>
              <a:ext cx="3491853" cy="3474394"/>
            </a:xfrm>
            <a:custGeom>
              <a:avLst/>
              <a:gdLst/>
              <a:ahLst/>
              <a:cxnLst/>
              <a:rect r="r" b="b" t="t" l="l"/>
              <a:pathLst>
                <a:path h="3474394" w="3491853">
                  <a:moveTo>
                    <a:pt x="0" y="0"/>
                  </a:moveTo>
                  <a:lnTo>
                    <a:pt x="3491853" y="0"/>
                  </a:lnTo>
                  <a:lnTo>
                    <a:pt x="3491853" y="3474394"/>
                  </a:lnTo>
                  <a:lnTo>
                    <a:pt x="0" y="3474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04717" y="3086100"/>
            <a:ext cx="2973793" cy="5619542"/>
            <a:chOff x="0" y="0"/>
            <a:chExt cx="3965057" cy="749272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572357"/>
              <a:ext cx="3965057" cy="2920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Gestionamos el proyecto aplicando Scrum, evaluando alternativas y tomando decisiones basadas en requerimientos técnicos, tiempos y prioridades del equipo.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687695"/>
              <a:ext cx="3965057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100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Gestión de Proyectos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4394" cy="3474394"/>
            </a:xfrm>
            <a:custGeom>
              <a:avLst/>
              <a:gdLst/>
              <a:ahLst/>
              <a:cxnLst/>
              <a:rect r="r" b="b" t="t" l="l"/>
              <a:pathLst>
                <a:path h="3474394" w="3474394">
                  <a:moveTo>
                    <a:pt x="0" y="0"/>
                  </a:moveTo>
                  <a:lnTo>
                    <a:pt x="3474394" y="0"/>
                  </a:lnTo>
                  <a:lnTo>
                    <a:pt x="3474394" y="3474394"/>
                  </a:lnTo>
                  <a:lnTo>
                    <a:pt x="0" y="3474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68289" y="3086100"/>
            <a:ext cx="3031371" cy="5263657"/>
            <a:chOff x="0" y="0"/>
            <a:chExt cx="4041828" cy="7018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78072" y="0"/>
              <a:ext cx="3061810" cy="3474394"/>
            </a:xfrm>
            <a:custGeom>
              <a:avLst/>
              <a:gdLst/>
              <a:ahLst/>
              <a:cxnLst/>
              <a:rect r="r" b="b" t="t" l="l"/>
              <a:pathLst>
                <a:path h="3474394" w="3061810">
                  <a:moveTo>
                    <a:pt x="0" y="0"/>
                  </a:moveTo>
                  <a:lnTo>
                    <a:pt x="3061809" y="0"/>
                  </a:lnTo>
                  <a:lnTo>
                    <a:pt x="3061809" y="3474394"/>
                  </a:lnTo>
                  <a:lnTo>
                    <a:pt x="0" y="3474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6771" y="4516944"/>
              <a:ext cx="3965057" cy="250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Barlow 2"/>
                  <a:ea typeface="Barlow 2"/>
                  <a:cs typeface="Barlow 2"/>
                  <a:sym typeface="Barlow 2"/>
                </a:rPr>
                <a:t>Se realizaron pruebas funcionales y de calidad siguiendo buenas prácticas de la industria, garantizando que el producto cumpla con los criterios definidos.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687695"/>
              <a:ext cx="404182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100">
                  <a:solidFill>
                    <a:srgbClr val="000000"/>
                  </a:solidFill>
                  <a:latin typeface="Barlow 2 Bold"/>
                  <a:ea typeface="Barlow 2 Bold"/>
                  <a:cs typeface="Barlow 2 Bold"/>
                  <a:sym typeface="Barlow 2 Bold"/>
                </a:rPr>
                <a:t>Pruebas y Certificación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5400000">
            <a:off x="5404260" y="-3078896"/>
            <a:ext cx="2596437" cy="5367311"/>
          </a:xfrm>
          <a:custGeom>
            <a:avLst/>
            <a:gdLst/>
            <a:ahLst/>
            <a:cxnLst/>
            <a:rect r="r" b="b" t="t" l="l"/>
            <a:pathLst>
              <a:path h="5367311" w="2596437">
                <a:moveTo>
                  <a:pt x="0" y="0"/>
                </a:moveTo>
                <a:lnTo>
                  <a:pt x="2596437" y="0"/>
                </a:lnTo>
                <a:lnTo>
                  <a:pt x="2596437" y="5367311"/>
                </a:lnTo>
                <a:lnTo>
                  <a:pt x="0" y="53673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10771571" y="8377036"/>
            <a:ext cx="2596437" cy="5367311"/>
          </a:xfrm>
          <a:custGeom>
            <a:avLst/>
            <a:gdLst/>
            <a:ahLst/>
            <a:cxnLst/>
            <a:rect r="r" b="b" t="t" l="l"/>
            <a:pathLst>
              <a:path h="5367311" w="2596437">
                <a:moveTo>
                  <a:pt x="0" y="0"/>
                </a:moveTo>
                <a:lnTo>
                  <a:pt x="2596436" y="0"/>
                </a:lnTo>
                <a:lnTo>
                  <a:pt x="2596436" y="5367311"/>
                </a:lnTo>
                <a:lnTo>
                  <a:pt x="0" y="53673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073" y="1335827"/>
            <a:ext cx="18288000" cy="7968964"/>
            <a:chOff x="0" y="0"/>
            <a:chExt cx="4816593" cy="20988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098822"/>
            </a:xfrm>
            <a:custGeom>
              <a:avLst/>
              <a:gdLst/>
              <a:ahLst/>
              <a:cxnLst/>
              <a:rect r="r" b="b" t="t" l="l"/>
              <a:pathLst>
                <a:path h="2098822" w="4816592">
                  <a:moveTo>
                    <a:pt x="8467" y="0"/>
                  </a:moveTo>
                  <a:lnTo>
                    <a:pt x="4808126" y="0"/>
                  </a:lnTo>
                  <a:cubicBezTo>
                    <a:pt x="4810371" y="0"/>
                    <a:pt x="4812525" y="892"/>
                    <a:pt x="4814113" y="2480"/>
                  </a:cubicBezTo>
                  <a:cubicBezTo>
                    <a:pt x="4815700" y="4068"/>
                    <a:pt x="4816592" y="6221"/>
                    <a:pt x="4816592" y="8467"/>
                  </a:cubicBezTo>
                  <a:lnTo>
                    <a:pt x="4816592" y="2090355"/>
                  </a:lnTo>
                  <a:cubicBezTo>
                    <a:pt x="4816592" y="2095031"/>
                    <a:pt x="4812802" y="2098822"/>
                    <a:pt x="4808126" y="2098822"/>
                  </a:cubicBezTo>
                  <a:lnTo>
                    <a:pt x="8467" y="2098822"/>
                  </a:lnTo>
                  <a:cubicBezTo>
                    <a:pt x="3791" y="2098822"/>
                    <a:pt x="0" y="2095031"/>
                    <a:pt x="0" y="2090355"/>
                  </a:cubicBezTo>
                  <a:lnTo>
                    <a:pt x="0" y="8467"/>
                  </a:lnTo>
                  <a:cubicBezTo>
                    <a:pt x="0" y="3791"/>
                    <a:pt x="3791" y="0"/>
                    <a:pt x="8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4816593" cy="2251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500936">
            <a:off x="15449758" y="-623649"/>
            <a:ext cx="4042848" cy="2850208"/>
          </a:xfrm>
          <a:custGeom>
            <a:avLst/>
            <a:gdLst/>
            <a:ahLst/>
            <a:cxnLst/>
            <a:rect r="r" b="b" t="t" l="l"/>
            <a:pathLst>
              <a:path h="2850208" w="4042848">
                <a:moveTo>
                  <a:pt x="0" y="0"/>
                </a:moveTo>
                <a:lnTo>
                  <a:pt x="4042848" y="0"/>
                </a:lnTo>
                <a:lnTo>
                  <a:pt x="4042848" y="2850207"/>
                </a:lnTo>
                <a:lnTo>
                  <a:pt x="0" y="285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3695" y="5919629"/>
            <a:ext cx="3885929" cy="3074741"/>
          </a:xfrm>
          <a:custGeom>
            <a:avLst/>
            <a:gdLst/>
            <a:ahLst/>
            <a:cxnLst/>
            <a:rect r="r" b="b" t="t" l="l"/>
            <a:pathLst>
              <a:path h="3074741" w="3885929">
                <a:moveTo>
                  <a:pt x="0" y="0"/>
                </a:moveTo>
                <a:lnTo>
                  <a:pt x="3885929" y="0"/>
                </a:lnTo>
                <a:lnTo>
                  <a:pt x="3885929" y="3074742"/>
                </a:lnTo>
                <a:lnTo>
                  <a:pt x="0" y="3074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500936">
            <a:off x="-31858" y="8945208"/>
            <a:ext cx="5740165" cy="4046817"/>
          </a:xfrm>
          <a:custGeom>
            <a:avLst/>
            <a:gdLst/>
            <a:ahLst/>
            <a:cxnLst/>
            <a:rect r="r" b="b" t="t" l="l"/>
            <a:pathLst>
              <a:path h="4046817" w="5740165">
                <a:moveTo>
                  <a:pt x="0" y="0"/>
                </a:moveTo>
                <a:lnTo>
                  <a:pt x="5740166" y="0"/>
                </a:lnTo>
                <a:lnTo>
                  <a:pt x="5740166" y="4046817"/>
                </a:lnTo>
                <a:lnTo>
                  <a:pt x="0" y="4046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-5400000">
            <a:off x="5536672" y="6486397"/>
            <a:ext cx="25904" cy="1255166"/>
          </a:xfrm>
          <a:prstGeom prst="rect">
            <a:avLst/>
          </a:prstGeom>
          <a:solidFill>
            <a:srgbClr val="151F28"/>
          </a:solidFill>
        </p:spPr>
      </p:sp>
      <p:sp>
        <p:nvSpPr>
          <p:cNvPr name="AutoShape 9" id="9"/>
          <p:cNvSpPr/>
          <p:nvPr/>
        </p:nvSpPr>
        <p:spPr>
          <a:xfrm rot="5400000">
            <a:off x="12734736" y="6477084"/>
            <a:ext cx="40506" cy="1288393"/>
          </a:xfrm>
          <a:prstGeom prst="rect">
            <a:avLst/>
          </a:prstGeom>
          <a:solidFill>
            <a:srgbClr val="151F28"/>
          </a:solidFill>
        </p:spPr>
      </p:sp>
      <p:sp>
        <p:nvSpPr>
          <p:cNvPr name="Freeform 10" id="10"/>
          <p:cNvSpPr/>
          <p:nvPr/>
        </p:nvSpPr>
        <p:spPr>
          <a:xfrm flipH="false" flipV="false" rot="0">
            <a:off x="1649147" y="2068759"/>
            <a:ext cx="3885929" cy="3074741"/>
          </a:xfrm>
          <a:custGeom>
            <a:avLst/>
            <a:gdLst/>
            <a:ahLst/>
            <a:cxnLst/>
            <a:rect r="r" b="b" t="t" l="l"/>
            <a:pathLst>
              <a:path h="3074741" w="3885929">
                <a:moveTo>
                  <a:pt x="0" y="0"/>
                </a:moveTo>
                <a:lnTo>
                  <a:pt x="3885929" y="0"/>
                </a:lnTo>
                <a:lnTo>
                  <a:pt x="3885929" y="3074741"/>
                </a:lnTo>
                <a:lnTo>
                  <a:pt x="0" y="3074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-5400000">
            <a:off x="5536672" y="2781007"/>
            <a:ext cx="25904" cy="1255166"/>
          </a:xfrm>
          <a:prstGeom prst="rect">
            <a:avLst/>
          </a:prstGeom>
          <a:solidFill>
            <a:srgbClr val="151F28"/>
          </a:solid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15306" y="824879"/>
            <a:ext cx="8637241" cy="8637241"/>
          </a:xfrm>
          <a:prstGeom prst="rect">
            <a:avLst/>
          </a:prstGeom>
        </p:spPr>
      </p:pic>
      <p:sp>
        <p:nvSpPr>
          <p:cNvPr name="Freeform 13" id="13"/>
          <p:cNvSpPr/>
          <p:nvPr/>
        </p:nvSpPr>
        <p:spPr>
          <a:xfrm flipH="false" flipV="false" rot="0">
            <a:off x="6603073" y="2612646"/>
            <a:ext cx="5061708" cy="5061708"/>
          </a:xfrm>
          <a:custGeom>
            <a:avLst/>
            <a:gdLst/>
            <a:ahLst/>
            <a:cxnLst/>
            <a:rect r="r" b="b" t="t" l="l"/>
            <a:pathLst>
              <a:path h="5061708" w="5061708">
                <a:moveTo>
                  <a:pt x="0" y="0"/>
                </a:moveTo>
                <a:lnTo>
                  <a:pt x="5061708" y="0"/>
                </a:lnTo>
                <a:lnTo>
                  <a:pt x="5061708" y="5061708"/>
                </a:lnTo>
                <a:lnTo>
                  <a:pt x="0" y="5061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8781454" y="7647798"/>
            <a:ext cx="704946" cy="473984"/>
            <a:chOff x="0" y="0"/>
            <a:chExt cx="1930400" cy="12979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0400" cy="1297940"/>
            </a:xfrm>
            <a:custGeom>
              <a:avLst/>
              <a:gdLst/>
              <a:ahLst/>
              <a:cxnLst/>
              <a:rect r="r" b="b" t="t" l="l"/>
              <a:pathLst>
                <a:path h="1297940" w="1930400">
                  <a:moveTo>
                    <a:pt x="0" y="0"/>
                  </a:moveTo>
                  <a:lnTo>
                    <a:pt x="965200" y="1297940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-10800000">
            <a:off x="8781454" y="2225505"/>
            <a:ext cx="704946" cy="473984"/>
            <a:chOff x="0" y="0"/>
            <a:chExt cx="1930400" cy="1297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0400" cy="1297940"/>
            </a:xfrm>
            <a:custGeom>
              <a:avLst/>
              <a:gdLst/>
              <a:ahLst/>
              <a:cxnLst/>
              <a:rect r="r" b="b" t="t" l="l"/>
              <a:pathLst>
                <a:path h="1297940" w="1930400">
                  <a:moveTo>
                    <a:pt x="0" y="0"/>
                  </a:moveTo>
                  <a:lnTo>
                    <a:pt x="965200" y="1297940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-5400000">
            <a:off x="11496188" y="4906508"/>
            <a:ext cx="704946" cy="473984"/>
            <a:chOff x="0" y="0"/>
            <a:chExt cx="1930400" cy="12979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30400" cy="1297940"/>
            </a:xfrm>
            <a:custGeom>
              <a:avLst/>
              <a:gdLst/>
              <a:ahLst/>
              <a:cxnLst/>
              <a:rect r="r" b="b" t="t" l="l"/>
              <a:pathLst>
                <a:path h="1297940" w="1930400">
                  <a:moveTo>
                    <a:pt x="0" y="0"/>
                  </a:moveTo>
                  <a:lnTo>
                    <a:pt x="965200" y="1297940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5400000">
            <a:off x="6066720" y="4906508"/>
            <a:ext cx="704946" cy="473984"/>
            <a:chOff x="0" y="0"/>
            <a:chExt cx="1930400" cy="1297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0400" cy="1297940"/>
            </a:xfrm>
            <a:custGeom>
              <a:avLst/>
              <a:gdLst/>
              <a:ahLst/>
              <a:cxnLst/>
              <a:rect r="r" b="b" t="t" l="l"/>
              <a:pathLst>
                <a:path h="1297940" w="1930400">
                  <a:moveTo>
                    <a:pt x="0" y="0"/>
                  </a:moveTo>
                  <a:lnTo>
                    <a:pt x="965200" y="1297940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-10800000">
            <a:off x="6915809" y="5254049"/>
            <a:ext cx="4436237" cy="2261611"/>
            <a:chOff x="0" y="0"/>
            <a:chExt cx="647700" cy="330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solidFill>
              <a:srgbClr val="151F28"/>
            </a:solidFill>
            <a:ln cap="sq">
              <a:noFill/>
              <a:prstDash val="sysDot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52400" y="3175"/>
              <a:ext cx="3429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8781454" y="7457000"/>
            <a:ext cx="704946" cy="473984"/>
            <a:chOff x="0" y="0"/>
            <a:chExt cx="1930400" cy="1297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30400" cy="1297940"/>
            </a:xfrm>
            <a:custGeom>
              <a:avLst/>
              <a:gdLst/>
              <a:ahLst/>
              <a:cxnLst/>
              <a:rect r="r" b="b" t="t" l="l"/>
              <a:pathLst>
                <a:path h="1297940" w="1930400">
                  <a:moveTo>
                    <a:pt x="0" y="0"/>
                  </a:moveTo>
                  <a:lnTo>
                    <a:pt x="965200" y="1297940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151F28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8735835" y="6589129"/>
            <a:ext cx="816330" cy="998569"/>
          </a:xfrm>
          <a:custGeom>
            <a:avLst/>
            <a:gdLst/>
            <a:ahLst/>
            <a:cxnLst/>
            <a:rect r="r" b="b" t="t" l="l"/>
            <a:pathLst>
              <a:path h="998569" w="816330">
                <a:moveTo>
                  <a:pt x="0" y="0"/>
                </a:moveTo>
                <a:lnTo>
                  <a:pt x="816330" y="0"/>
                </a:lnTo>
                <a:lnTo>
                  <a:pt x="816330" y="998569"/>
                </a:lnTo>
                <a:lnTo>
                  <a:pt x="0" y="9985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32141" y="2225505"/>
            <a:ext cx="3489900" cy="2260618"/>
            <a:chOff x="0" y="0"/>
            <a:chExt cx="4653200" cy="301415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653200" cy="3014157"/>
              <a:chOff x="0" y="0"/>
              <a:chExt cx="2979669" cy="193011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979669" cy="1930111"/>
              </a:xfrm>
              <a:custGeom>
                <a:avLst/>
                <a:gdLst/>
                <a:ahLst/>
                <a:cxnLst/>
                <a:rect r="r" b="b" t="t" l="l"/>
                <a:pathLst>
                  <a:path h="1930111" w="2979669">
                    <a:moveTo>
                      <a:pt x="2855209" y="1930111"/>
                    </a:moveTo>
                    <a:lnTo>
                      <a:pt x="124460" y="1930111"/>
                    </a:lnTo>
                    <a:cubicBezTo>
                      <a:pt x="55880" y="1930111"/>
                      <a:pt x="0" y="1874231"/>
                      <a:pt x="0" y="180565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1805651"/>
                    </a:lnTo>
                    <a:cubicBezTo>
                      <a:pt x="2979669" y="1874231"/>
                      <a:pt x="2923789" y="1930111"/>
                      <a:pt x="2855209" y="1930111"/>
                    </a:cubicBezTo>
                    <a:close/>
                  </a:path>
                </a:pathLst>
              </a:custGeom>
              <a:solidFill>
                <a:srgbClr val="EEBA2B"/>
              </a:solidFill>
            </p:spPr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3850554" y="2449376"/>
              <a:ext cx="614051" cy="372268"/>
            </a:xfrm>
            <a:custGeom>
              <a:avLst/>
              <a:gdLst/>
              <a:ahLst/>
              <a:cxnLst/>
              <a:rect r="r" b="b" t="t" l="l"/>
              <a:pathLst>
                <a:path h="372268" w="614051">
                  <a:moveTo>
                    <a:pt x="0" y="0"/>
                  </a:moveTo>
                  <a:lnTo>
                    <a:pt x="614051" y="0"/>
                  </a:lnTo>
                  <a:lnTo>
                    <a:pt x="614051" y="372268"/>
                  </a:lnTo>
                  <a:lnTo>
                    <a:pt x="0" y="37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366187" y="309200"/>
              <a:ext cx="4009749" cy="547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8"/>
                </a:lnSpc>
              </a:pPr>
              <a:r>
                <a:rPr lang="en-US" sz="2484" spc="7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React </a:t>
              </a:r>
              <a:r>
                <a:rPr lang="en-US" b="true" sz="2484" spc="7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+ Expo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66187" y="1037278"/>
              <a:ext cx="3920826" cy="781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8"/>
                </a:lnSpc>
                <a:spcBef>
                  <a:spcPct val="0"/>
                </a:spcBef>
              </a:pPr>
              <a:r>
                <a:rPr lang="en-US" sz="176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Interfaz móvil, navegación, componentes UI.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32141" y="5752447"/>
            <a:ext cx="3489900" cy="2565418"/>
            <a:chOff x="0" y="0"/>
            <a:chExt cx="4653200" cy="342055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4653200" cy="3420557"/>
              <a:chOff x="0" y="0"/>
              <a:chExt cx="2979669" cy="219034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979669" cy="2190348"/>
              </a:xfrm>
              <a:custGeom>
                <a:avLst/>
                <a:gdLst/>
                <a:ahLst/>
                <a:cxnLst/>
                <a:rect r="r" b="b" t="t" l="l"/>
                <a:pathLst>
                  <a:path h="2190348" w="2979669">
                    <a:moveTo>
                      <a:pt x="2855209" y="2190348"/>
                    </a:moveTo>
                    <a:lnTo>
                      <a:pt x="124460" y="2190348"/>
                    </a:lnTo>
                    <a:cubicBezTo>
                      <a:pt x="55880" y="2190348"/>
                      <a:pt x="0" y="2134468"/>
                      <a:pt x="0" y="206588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2065888"/>
                    </a:lnTo>
                    <a:cubicBezTo>
                      <a:pt x="2979669" y="2134468"/>
                      <a:pt x="2923789" y="2190348"/>
                      <a:pt x="2855209" y="2190348"/>
                    </a:cubicBezTo>
                    <a:close/>
                  </a:path>
                </a:pathLst>
              </a:custGeom>
              <a:solidFill>
                <a:srgbClr val="EEBA2B"/>
              </a:solidFill>
            </p:spPr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3850554" y="2855776"/>
              <a:ext cx="614051" cy="372268"/>
            </a:xfrm>
            <a:custGeom>
              <a:avLst/>
              <a:gdLst/>
              <a:ahLst/>
              <a:cxnLst/>
              <a:rect r="r" b="b" t="t" l="l"/>
              <a:pathLst>
                <a:path h="372268" w="614051">
                  <a:moveTo>
                    <a:pt x="0" y="0"/>
                  </a:moveTo>
                  <a:lnTo>
                    <a:pt x="614051" y="0"/>
                  </a:lnTo>
                  <a:lnTo>
                    <a:pt x="614051" y="372268"/>
                  </a:lnTo>
                  <a:lnTo>
                    <a:pt x="0" y="37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366187" y="309200"/>
              <a:ext cx="4009749" cy="547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8"/>
                </a:lnSpc>
              </a:pPr>
              <a:r>
                <a:rPr lang="en-US" b="true" sz="2484" spc="7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PostgreSQL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66187" y="1037278"/>
              <a:ext cx="3920826" cy="118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8"/>
                </a:lnSpc>
                <a:spcBef>
                  <a:spcPct val="0"/>
                </a:spcBef>
              </a:pPr>
              <a:r>
                <a:rPr lang="en-US" sz="176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Gestión de usuarios, transacciones, registros financieros.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3827811" y="2277268"/>
            <a:ext cx="3885929" cy="3074741"/>
          </a:xfrm>
          <a:custGeom>
            <a:avLst/>
            <a:gdLst/>
            <a:ahLst/>
            <a:cxnLst/>
            <a:rect r="r" b="b" t="t" l="l"/>
            <a:pathLst>
              <a:path h="3074741" w="3885929">
                <a:moveTo>
                  <a:pt x="0" y="0"/>
                </a:moveTo>
                <a:lnTo>
                  <a:pt x="3885929" y="0"/>
                </a:lnTo>
                <a:lnTo>
                  <a:pt x="3885929" y="3074741"/>
                </a:lnTo>
                <a:lnTo>
                  <a:pt x="0" y="3074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399186" y="2174415"/>
            <a:ext cx="3489900" cy="2427582"/>
            <a:chOff x="0" y="0"/>
            <a:chExt cx="2979669" cy="2072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79669" cy="2072664"/>
            </a:xfrm>
            <a:custGeom>
              <a:avLst/>
              <a:gdLst/>
              <a:ahLst/>
              <a:cxnLst/>
              <a:rect r="r" b="b" t="t" l="l"/>
              <a:pathLst>
                <a:path h="2072664" w="2979669">
                  <a:moveTo>
                    <a:pt x="2855209" y="2072664"/>
                  </a:moveTo>
                  <a:lnTo>
                    <a:pt x="124460" y="2072664"/>
                  </a:lnTo>
                  <a:cubicBezTo>
                    <a:pt x="55880" y="2072664"/>
                    <a:pt x="0" y="2016784"/>
                    <a:pt x="0" y="194820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55209" y="0"/>
                  </a:lnTo>
                  <a:cubicBezTo>
                    <a:pt x="2923789" y="0"/>
                    <a:pt x="2979669" y="55880"/>
                    <a:pt x="2979669" y="124460"/>
                  </a:cubicBezTo>
                  <a:lnTo>
                    <a:pt x="2979669" y="1948204"/>
                  </a:lnTo>
                  <a:cubicBezTo>
                    <a:pt x="2979669" y="2016784"/>
                    <a:pt x="2923789" y="2072664"/>
                    <a:pt x="2855209" y="2072664"/>
                  </a:cubicBezTo>
                  <a:close/>
                </a:path>
              </a:pathLst>
            </a:custGeom>
            <a:solidFill>
              <a:srgbClr val="EEBA2B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6220600" y="4206922"/>
            <a:ext cx="460538" cy="279201"/>
          </a:xfrm>
          <a:custGeom>
            <a:avLst/>
            <a:gdLst/>
            <a:ahLst/>
            <a:cxnLst/>
            <a:rect r="r" b="b" t="t" l="l"/>
            <a:pathLst>
              <a:path h="279201" w="460538">
                <a:moveTo>
                  <a:pt x="0" y="0"/>
                </a:moveTo>
                <a:lnTo>
                  <a:pt x="460538" y="0"/>
                </a:lnTo>
                <a:lnTo>
                  <a:pt x="460538" y="279201"/>
                </a:lnTo>
                <a:lnTo>
                  <a:pt x="0" y="279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 rot="-5400000">
            <a:off x="12846598" y="2894858"/>
            <a:ext cx="25904" cy="1079272"/>
          </a:xfrm>
          <a:prstGeom prst="rect">
            <a:avLst/>
          </a:prstGeom>
          <a:solidFill>
            <a:srgbClr val="151F28"/>
          </a:solidFill>
        </p:spPr>
      </p:sp>
      <p:sp>
        <p:nvSpPr>
          <p:cNvPr name="Freeform 45" id="45"/>
          <p:cNvSpPr/>
          <p:nvPr/>
        </p:nvSpPr>
        <p:spPr>
          <a:xfrm flipH="false" flipV="false" rot="0">
            <a:off x="14227861" y="6304001"/>
            <a:ext cx="3885929" cy="3074741"/>
          </a:xfrm>
          <a:custGeom>
            <a:avLst/>
            <a:gdLst/>
            <a:ahLst/>
            <a:cxnLst/>
            <a:rect r="r" b="b" t="t" l="l"/>
            <a:pathLst>
              <a:path h="3074741" w="3885929">
                <a:moveTo>
                  <a:pt x="0" y="0"/>
                </a:moveTo>
                <a:lnTo>
                  <a:pt x="3885929" y="0"/>
                </a:lnTo>
                <a:lnTo>
                  <a:pt x="3885929" y="3074741"/>
                </a:lnTo>
                <a:lnTo>
                  <a:pt x="0" y="3074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3399186" y="5958105"/>
            <a:ext cx="3489900" cy="2632747"/>
            <a:chOff x="0" y="0"/>
            <a:chExt cx="2979669" cy="22478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79669" cy="2247834"/>
            </a:xfrm>
            <a:custGeom>
              <a:avLst/>
              <a:gdLst/>
              <a:ahLst/>
              <a:cxnLst/>
              <a:rect r="r" b="b" t="t" l="l"/>
              <a:pathLst>
                <a:path h="2247834" w="2979669">
                  <a:moveTo>
                    <a:pt x="2855209" y="2247834"/>
                  </a:moveTo>
                  <a:lnTo>
                    <a:pt x="124460" y="2247834"/>
                  </a:lnTo>
                  <a:cubicBezTo>
                    <a:pt x="55880" y="2247834"/>
                    <a:pt x="0" y="2191954"/>
                    <a:pt x="0" y="212337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55209" y="0"/>
                  </a:lnTo>
                  <a:cubicBezTo>
                    <a:pt x="2923789" y="0"/>
                    <a:pt x="2979669" y="55880"/>
                    <a:pt x="2979669" y="124460"/>
                  </a:cubicBezTo>
                  <a:lnTo>
                    <a:pt x="2979669" y="2123374"/>
                  </a:lnTo>
                  <a:cubicBezTo>
                    <a:pt x="2979669" y="2191954"/>
                    <a:pt x="2923789" y="2247834"/>
                    <a:pt x="2855209" y="2247834"/>
                  </a:cubicBezTo>
                  <a:close/>
                </a:path>
              </a:pathLst>
            </a:custGeom>
            <a:solidFill>
              <a:srgbClr val="EEBA2B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6287101" y="8178264"/>
            <a:ext cx="460538" cy="279201"/>
          </a:xfrm>
          <a:custGeom>
            <a:avLst/>
            <a:gdLst/>
            <a:ahLst/>
            <a:cxnLst/>
            <a:rect r="r" b="b" t="t" l="l"/>
            <a:pathLst>
              <a:path h="279201" w="460538">
                <a:moveTo>
                  <a:pt x="0" y="0"/>
                </a:moveTo>
                <a:lnTo>
                  <a:pt x="460538" y="0"/>
                </a:lnTo>
                <a:lnTo>
                  <a:pt x="460538" y="279202"/>
                </a:lnTo>
                <a:lnTo>
                  <a:pt x="0" y="2792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3673826" y="7167070"/>
            <a:ext cx="2940619" cy="120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8"/>
              </a:lnSpc>
              <a:spcBef>
                <a:spcPct val="0"/>
              </a:spcBef>
            </a:pPr>
            <a:r>
              <a:rPr lang="en-US" sz="1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Procesamiento de consultas, velocidad de inferencia, recomendaciones.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5949530" y="7274478"/>
            <a:ext cx="2338470" cy="3012522"/>
          </a:xfrm>
          <a:custGeom>
            <a:avLst/>
            <a:gdLst/>
            <a:ahLst/>
            <a:cxnLst/>
            <a:rect r="r" b="b" t="t" l="l"/>
            <a:pathLst>
              <a:path h="3012522" w="2338470">
                <a:moveTo>
                  <a:pt x="0" y="0"/>
                </a:moveTo>
                <a:lnTo>
                  <a:pt x="2338470" y="0"/>
                </a:lnTo>
                <a:lnTo>
                  <a:pt x="2338470" y="3012522"/>
                </a:lnTo>
                <a:lnTo>
                  <a:pt x="0" y="30125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-3650226" y="-1832867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367082" y="7841371"/>
            <a:ext cx="1052111" cy="1357562"/>
          </a:xfrm>
          <a:custGeom>
            <a:avLst/>
            <a:gdLst/>
            <a:ahLst/>
            <a:cxnLst/>
            <a:rect r="r" b="b" t="t" l="l"/>
            <a:pathLst>
              <a:path h="1357562" w="1052111">
                <a:moveTo>
                  <a:pt x="0" y="0"/>
                </a:moveTo>
                <a:lnTo>
                  <a:pt x="1052111" y="0"/>
                </a:lnTo>
                <a:lnTo>
                  <a:pt x="1052111" y="1357563"/>
                </a:lnTo>
                <a:lnTo>
                  <a:pt x="0" y="13575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1664781" y="7841371"/>
            <a:ext cx="1415971" cy="1357562"/>
          </a:xfrm>
          <a:custGeom>
            <a:avLst/>
            <a:gdLst/>
            <a:ahLst/>
            <a:cxnLst/>
            <a:rect r="r" b="b" t="t" l="l"/>
            <a:pathLst>
              <a:path h="1357562" w="1415971">
                <a:moveTo>
                  <a:pt x="0" y="0"/>
                </a:moveTo>
                <a:lnTo>
                  <a:pt x="1415971" y="0"/>
                </a:lnTo>
                <a:lnTo>
                  <a:pt x="1415971" y="1357563"/>
                </a:lnTo>
                <a:lnTo>
                  <a:pt x="0" y="135756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1858125" y="1345352"/>
            <a:ext cx="1415971" cy="1267294"/>
          </a:xfrm>
          <a:custGeom>
            <a:avLst/>
            <a:gdLst/>
            <a:ahLst/>
            <a:cxnLst/>
            <a:rect r="r" b="b" t="t" l="l"/>
            <a:pathLst>
              <a:path h="1267294" w="1415971">
                <a:moveTo>
                  <a:pt x="0" y="0"/>
                </a:moveTo>
                <a:lnTo>
                  <a:pt x="1415971" y="0"/>
                </a:lnTo>
                <a:lnTo>
                  <a:pt x="1415971" y="1267294"/>
                </a:lnTo>
                <a:lnTo>
                  <a:pt x="0" y="126729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111084" y="1513176"/>
            <a:ext cx="1301489" cy="1168087"/>
          </a:xfrm>
          <a:custGeom>
            <a:avLst/>
            <a:gdLst/>
            <a:ahLst/>
            <a:cxnLst/>
            <a:rect r="r" b="b" t="t" l="l"/>
            <a:pathLst>
              <a:path h="1168087" w="1301489">
                <a:moveTo>
                  <a:pt x="0" y="0"/>
                </a:moveTo>
                <a:lnTo>
                  <a:pt x="1301489" y="0"/>
                </a:lnTo>
                <a:lnTo>
                  <a:pt x="1301489" y="1168087"/>
                </a:lnTo>
                <a:lnTo>
                  <a:pt x="0" y="11680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4249965" y="264640"/>
            <a:ext cx="9788071" cy="85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82"/>
              </a:lnSpc>
              <a:spcBef>
                <a:spcPct val="0"/>
              </a:spcBef>
            </a:pPr>
            <a:r>
              <a:rPr lang="en-US" b="true" sz="6020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Arquitectura Tecnológica</a:t>
            </a:r>
          </a:p>
        </p:txBody>
      </p:sp>
      <p:sp>
        <p:nvSpPr>
          <p:cNvPr name="TextBox 57" id="57"/>
          <p:cNvSpPr txBox="true"/>
          <p:nvPr/>
        </p:nvSpPr>
        <p:spPr>
          <a:xfrm rot="-3193413">
            <a:off x="5719169" y="3099955"/>
            <a:ext cx="2089194" cy="3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 spc="89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Front-End</a:t>
            </a:r>
          </a:p>
        </p:txBody>
      </p:sp>
      <p:sp>
        <p:nvSpPr>
          <p:cNvPr name="TextBox 58" id="58"/>
          <p:cNvSpPr txBox="true"/>
          <p:nvPr/>
        </p:nvSpPr>
        <p:spPr>
          <a:xfrm rot="2974528">
            <a:off x="10277908" y="2935357"/>
            <a:ext cx="2089194" cy="3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 spc="89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Back-End</a:t>
            </a:r>
          </a:p>
        </p:txBody>
      </p:sp>
      <p:sp>
        <p:nvSpPr>
          <p:cNvPr name="TextBox 59" id="59"/>
          <p:cNvSpPr txBox="true"/>
          <p:nvPr/>
        </p:nvSpPr>
        <p:spPr>
          <a:xfrm rot="-2700000">
            <a:off x="10250367" y="6865651"/>
            <a:ext cx="2089194" cy="7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 spc="89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Inteligencia Artificial</a:t>
            </a:r>
          </a:p>
        </p:txBody>
      </p:sp>
      <p:sp>
        <p:nvSpPr>
          <p:cNvPr name="TextBox 60" id="60"/>
          <p:cNvSpPr txBox="true"/>
          <p:nvPr/>
        </p:nvSpPr>
        <p:spPr>
          <a:xfrm rot="2700000">
            <a:off x="6007961" y="7060913"/>
            <a:ext cx="2089194" cy="3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 spc="89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Base de datos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276281" y="4091137"/>
            <a:ext cx="3735437" cy="5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6"/>
              </a:lnSpc>
              <a:spcBef>
                <a:spcPct val="0"/>
              </a:spcBef>
            </a:pPr>
            <a:r>
              <a:rPr lang="en-US" b="true" sz="3600" spc="107">
                <a:solidFill>
                  <a:srgbClr val="000000"/>
                </a:solidFill>
                <a:latin typeface="Barlow 2 Ultra-Bold"/>
                <a:ea typeface="Barlow 2 Ultra-Bold"/>
                <a:cs typeface="Barlow 2 Ultra-Bold"/>
                <a:sym typeface="Barlow 2 Ultra-Bold"/>
              </a:rPr>
              <a:t>MYGOALFINANCE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132039" y="5323434"/>
            <a:ext cx="4003776" cy="31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5"/>
              </a:lnSpc>
              <a:spcBef>
                <a:spcPct val="0"/>
              </a:spcBef>
            </a:pPr>
            <a:r>
              <a:rPr lang="en-US" b="true" sz="1889" spc="56">
                <a:solidFill>
                  <a:srgbClr val="FFFFFF"/>
                </a:solidFill>
                <a:latin typeface="Barlow 2 Bold"/>
                <a:ea typeface="Barlow 2 Bold"/>
                <a:cs typeface="Barlow 2 Bold"/>
                <a:sym typeface="Barlow 2 Bold"/>
              </a:rPr>
              <a:t>ESTANDARES DE SEGURIDAD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425243" y="5697087"/>
            <a:ext cx="3586476" cy="87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934" indent="-138467" lvl="1">
              <a:lnSpc>
                <a:spcPts val="1795"/>
              </a:lnSpc>
              <a:buFont typeface="Arial"/>
              <a:buChar char="•"/>
            </a:pPr>
            <a:r>
              <a:rPr lang="en-US" sz="12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 con  JWT (JSON Web Tokens)</a:t>
            </a:r>
          </a:p>
          <a:p>
            <a:pPr algn="l" marL="276934" indent="-138467" lvl="1">
              <a:lnSpc>
                <a:spcPts val="1795"/>
              </a:lnSpc>
              <a:buFont typeface="Arial"/>
              <a:buChar char="•"/>
            </a:pPr>
            <a:r>
              <a:rPr lang="en-US" sz="12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Comunicación cifrada mediante SSL/HTTPS</a:t>
            </a:r>
          </a:p>
          <a:p>
            <a:pPr algn="l" marL="276934" indent="-138467" lvl="1">
              <a:lnSpc>
                <a:spcPts val="1795"/>
              </a:lnSpc>
              <a:buFont typeface="Arial"/>
              <a:buChar char="•"/>
            </a:pPr>
            <a:r>
              <a:rPr lang="en-US" sz="12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ISO 27001</a:t>
            </a:r>
          </a:p>
          <a:p>
            <a:pPr algn="l" marL="276934" indent="-138467" lvl="1">
              <a:lnSpc>
                <a:spcPts val="1795"/>
              </a:lnSpc>
              <a:buFont typeface="Arial"/>
              <a:buChar char="•"/>
            </a:pPr>
            <a:r>
              <a:rPr lang="en-US" sz="12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OWASP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673826" y="2394409"/>
            <a:ext cx="3007312" cy="86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b="true" sz="2484" spc="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Node.js + Typescript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673826" y="3383380"/>
            <a:ext cx="2940619" cy="8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8"/>
              </a:lnSpc>
              <a:spcBef>
                <a:spcPct val="0"/>
              </a:spcBef>
            </a:pPr>
            <a:r>
              <a:rPr lang="en-US" sz="1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Servicios, endpoints, autenticación, lógica del negocio.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673826" y="6178098"/>
            <a:ext cx="3007312" cy="86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b="true" sz="2484" spc="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Groq API + Llama 3.1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3628" y="1799522"/>
            <a:ext cx="3204265" cy="2632875"/>
            <a:chOff x="0" y="0"/>
            <a:chExt cx="1474019" cy="1211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4019" cy="1211169"/>
            </a:xfrm>
            <a:custGeom>
              <a:avLst/>
              <a:gdLst/>
              <a:ahLst/>
              <a:cxnLst/>
              <a:rect r="r" b="b" t="t" l="l"/>
              <a:pathLst>
                <a:path h="1211169" w="1474019">
                  <a:moveTo>
                    <a:pt x="36242" y="0"/>
                  </a:moveTo>
                  <a:lnTo>
                    <a:pt x="1437777" y="0"/>
                  </a:lnTo>
                  <a:cubicBezTo>
                    <a:pt x="1457793" y="0"/>
                    <a:pt x="1474019" y="16226"/>
                    <a:pt x="1474019" y="36242"/>
                  </a:cubicBezTo>
                  <a:lnTo>
                    <a:pt x="1474019" y="1174927"/>
                  </a:lnTo>
                  <a:cubicBezTo>
                    <a:pt x="1474019" y="1194943"/>
                    <a:pt x="1457793" y="1211169"/>
                    <a:pt x="1437777" y="1211169"/>
                  </a:cubicBezTo>
                  <a:lnTo>
                    <a:pt x="36242" y="1211169"/>
                  </a:lnTo>
                  <a:cubicBezTo>
                    <a:pt x="16226" y="1211169"/>
                    <a:pt x="0" y="1194943"/>
                    <a:pt x="0" y="1174927"/>
                  </a:cubicBezTo>
                  <a:lnTo>
                    <a:pt x="0" y="36242"/>
                  </a:lnTo>
                  <a:cubicBezTo>
                    <a:pt x="0" y="16226"/>
                    <a:pt x="16226" y="0"/>
                    <a:pt x="36242" y="0"/>
                  </a:cubicBezTo>
                  <a:close/>
                </a:path>
              </a:pathLst>
            </a:custGeom>
            <a:blipFill>
              <a:blip r:embed="rId2"/>
              <a:stretch>
                <a:fillRect l="-332" t="0" r="-33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91955" y="5924552"/>
            <a:ext cx="3355939" cy="2757502"/>
            <a:chOff x="0" y="0"/>
            <a:chExt cx="1474019" cy="12111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019" cy="1211169"/>
            </a:xfrm>
            <a:custGeom>
              <a:avLst/>
              <a:gdLst/>
              <a:ahLst/>
              <a:cxnLst/>
              <a:rect r="r" b="b" t="t" l="l"/>
              <a:pathLst>
                <a:path h="1211169" w="1474019">
                  <a:moveTo>
                    <a:pt x="34604" y="0"/>
                  </a:moveTo>
                  <a:lnTo>
                    <a:pt x="1439415" y="0"/>
                  </a:lnTo>
                  <a:cubicBezTo>
                    <a:pt x="1458526" y="0"/>
                    <a:pt x="1474019" y="15493"/>
                    <a:pt x="1474019" y="34604"/>
                  </a:cubicBezTo>
                  <a:lnTo>
                    <a:pt x="1474019" y="1176565"/>
                  </a:lnTo>
                  <a:cubicBezTo>
                    <a:pt x="1474019" y="1195676"/>
                    <a:pt x="1458526" y="1211169"/>
                    <a:pt x="1439415" y="1211169"/>
                  </a:cubicBezTo>
                  <a:lnTo>
                    <a:pt x="34604" y="1211169"/>
                  </a:lnTo>
                  <a:cubicBezTo>
                    <a:pt x="15493" y="1211169"/>
                    <a:pt x="0" y="1195676"/>
                    <a:pt x="0" y="1176565"/>
                  </a:cubicBezTo>
                  <a:lnTo>
                    <a:pt x="0" y="34604"/>
                  </a:lnTo>
                  <a:cubicBezTo>
                    <a:pt x="0" y="15493"/>
                    <a:pt x="15493" y="0"/>
                    <a:pt x="34604" y="0"/>
                  </a:cubicBezTo>
                  <a:close/>
                </a:path>
              </a:pathLst>
            </a:custGeom>
            <a:blipFill>
              <a:blip r:embed="rId3"/>
              <a:stretch>
                <a:fillRect l="-332" t="0" r="-33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210895" y="5924552"/>
            <a:ext cx="3355939" cy="2757502"/>
            <a:chOff x="0" y="0"/>
            <a:chExt cx="1474019" cy="12111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4019" cy="1211169"/>
            </a:xfrm>
            <a:custGeom>
              <a:avLst/>
              <a:gdLst/>
              <a:ahLst/>
              <a:cxnLst/>
              <a:rect r="r" b="b" t="t" l="l"/>
              <a:pathLst>
                <a:path h="1211169" w="1474019">
                  <a:moveTo>
                    <a:pt x="34604" y="0"/>
                  </a:moveTo>
                  <a:lnTo>
                    <a:pt x="1439415" y="0"/>
                  </a:lnTo>
                  <a:cubicBezTo>
                    <a:pt x="1458526" y="0"/>
                    <a:pt x="1474019" y="15493"/>
                    <a:pt x="1474019" y="34604"/>
                  </a:cubicBezTo>
                  <a:lnTo>
                    <a:pt x="1474019" y="1176565"/>
                  </a:lnTo>
                  <a:cubicBezTo>
                    <a:pt x="1474019" y="1195676"/>
                    <a:pt x="1458526" y="1211169"/>
                    <a:pt x="1439415" y="1211169"/>
                  </a:cubicBezTo>
                  <a:lnTo>
                    <a:pt x="34604" y="1211169"/>
                  </a:lnTo>
                  <a:cubicBezTo>
                    <a:pt x="15493" y="1211169"/>
                    <a:pt x="0" y="1195676"/>
                    <a:pt x="0" y="1176565"/>
                  </a:cubicBezTo>
                  <a:lnTo>
                    <a:pt x="0" y="34604"/>
                  </a:lnTo>
                  <a:cubicBezTo>
                    <a:pt x="0" y="15493"/>
                    <a:pt x="15493" y="0"/>
                    <a:pt x="34604" y="0"/>
                  </a:cubicBez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50771" y="799877"/>
            <a:ext cx="6364390" cy="46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</a:pPr>
            <a:r>
              <a:rPr lang="en-US" b="true" sz="3467">
                <a:solidFill>
                  <a:srgbClr val="E0E6F0"/>
                </a:solidFill>
                <a:latin typeface="Barlow 2 Bold"/>
                <a:ea typeface="Barlow 2 Bold"/>
                <a:cs typeface="Barlow 2 Bold"/>
                <a:sym typeface="Barlow 2 Bold"/>
              </a:rPr>
              <a:t>Principales Fuentes de Ingresos</a:t>
            </a:r>
          </a:p>
        </p:txBody>
      </p:sp>
      <p:grpSp>
        <p:nvGrpSpPr>
          <p:cNvPr name="Group 9" id="9"/>
          <p:cNvGrpSpPr/>
          <p:nvPr/>
        </p:nvGrpSpPr>
        <p:grpSpPr>
          <a:xfrm rot="-5400000">
            <a:off x="8470840" y="469840"/>
            <a:ext cx="10279829" cy="9354492"/>
            <a:chOff x="0" y="0"/>
            <a:chExt cx="2707445" cy="24637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7445" cy="2463735"/>
            </a:xfrm>
            <a:custGeom>
              <a:avLst/>
              <a:gdLst/>
              <a:ahLst/>
              <a:cxnLst/>
              <a:rect r="r" b="b" t="t" l="l"/>
              <a:pathLst>
                <a:path h="2463735" w="2707445">
                  <a:moveTo>
                    <a:pt x="0" y="0"/>
                  </a:moveTo>
                  <a:lnTo>
                    <a:pt x="2707445" y="0"/>
                  </a:lnTo>
                  <a:lnTo>
                    <a:pt x="2707445" y="2463735"/>
                  </a:lnTo>
                  <a:lnTo>
                    <a:pt x="0" y="2463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7445" cy="2501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278461" y="-2215630"/>
            <a:ext cx="6253479" cy="3524688"/>
          </a:xfrm>
          <a:custGeom>
            <a:avLst/>
            <a:gdLst/>
            <a:ahLst/>
            <a:cxnLst/>
            <a:rect r="r" b="b" t="t" l="l"/>
            <a:pathLst>
              <a:path h="3524688" w="6253479">
                <a:moveTo>
                  <a:pt x="0" y="0"/>
                </a:moveTo>
                <a:lnTo>
                  <a:pt x="6253478" y="0"/>
                </a:lnTo>
                <a:lnTo>
                  <a:pt x="6253478" y="3524688"/>
                </a:lnTo>
                <a:lnTo>
                  <a:pt x="0" y="3524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96923" y="-1714232"/>
            <a:ext cx="5256086" cy="2962521"/>
          </a:xfrm>
          <a:custGeom>
            <a:avLst/>
            <a:gdLst/>
            <a:ahLst/>
            <a:cxnLst/>
            <a:rect r="r" b="b" t="t" l="l"/>
            <a:pathLst>
              <a:path h="2962521" w="5256086">
                <a:moveTo>
                  <a:pt x="0" y="0"/>
                </a:moveTo>
                <a:lnTo>
                  <a:pt x="5256086" y="0"/>
                </a:lnTo>
                <a:lnTo>
                  <a:pt x="5256086" y="2962521"/>
                </a:lnTo>
                <a:lnTo>
                  <a:pt x="0" y="2962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210895" y="1799522"/>
            <a:ext cx="3204265" cy="2632875"/>
            <a:chOff x="0" y="0"/>
            <a:chExt cx="1474019" cy="1211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74019" cy="1211169"/>
            </a:xfrm>
            <a:custGeom>
              <a:avLst/>
              <a:gdLst/>
              <a:ahLst/>
              <a:cxnLst/>
              <a:rect r="r" b="b" t="t" l="l"/>
              <a:pathLst>
                <a:path h="1211169" w="1474019">
                  <a:moveTo>
                    <a:pt x="36242" y="0"/>
                  </a:moveTo>
                  <a:lnTo>
                    <a:pt x="1437777" y="0"/>
                  </a:lnTo>
                  <a:cubicBezTo>
                    <a:pt x="1457793" y="0"/>
                    <a:pt x="1474019" y="16226"/>
                    <a:pt x="1474019" y="36242"/>
                  </a:cubicBezTo>
                  <a:lnTo>
                    <a:pt x="1474019" y="1174927"/>
                  </a:lnTo>
                  <a:cubicBezTo>
                    <a:pt x="1474019" y="1194943"/>
                    <a:pt x="1457793" y="1211169"/>
                    <a:pt x="1437777" y="1211169"/>
                  </a:cubicBezTo>
                  <a:lnTo>
                    <a:pt x="36242" y="1211169"/>
                  </a:lnTo>
                  <a:cubicBezTo>
                    <a:pt x="16226" y="1211169"/>
                    <a:pt x="0" y="1194943"/>
                    <a:pt x="0" y="1174927"/>
                  </a:cubicBezTo>
                  <a:lnTo>
                    <a:pt x="0" y="36242"/>
                  </a:lnTo>
                  <a:cubicBezTo>
                    <a:pt x="0" y="16226"/>
                    <a:pt x="16226" y="0"/>
                    <a:pt x="36242" y="0"/>
                  </a:cubicBezTo>
                  <a:close/>
                </a:path>
              </a:pathLst>
            </a:custGeom>
            <a:blipFill>
              <a:blip r:embed="rId7"/>
              <a:stretch>
                <a:fillRect l="-11664" t="0" r="-11664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505020" y="1799522"/>
            <a:ext cx="2779676" cy="2595591"/>
            <a:chOff x="0" y="0"/>
            <a:chExt cx="738346" cy="6894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11408" y="0"/>
                  </a:moveTo>
                  <a:lnTo>
                    <a:pt x="626938" y="0"/>
                  </a:lnTo>
                  <a:cubicBezTo>
                    <a:pt x="656485" y="0"/>
                    <a:pt x="684822" y="11738"/>
                    <a:pt x="705715" y="32631"/>
                  </a:cubicBezTo>
                  <a:cubicBezTo>
                    <a:pt x="726608" y="53523"/>
                    <a:pt x="738346" y="81860"/>
                    <a:pt x="738346" y="111408"/>
                  </a:cubicBezTo>
                  <a:lnTo>
                    <a:pt x="738346" y="578041"/>
                  </a:lnTo>
                  <a:cubicBezTo>
                    <a:pt x="738346" y="639570"/>
                    <a:pt x="688467" y="689449"/>
                    <a:pt x="626938" y="689449"/>
                  </a:cubicBezTo>
                  <a:lnTo>
                    <a:pt x="111408" y="689449"/>
                  </a:lnTo>
                  <a:cubicBezTo>
                    <a:pt x="81860" y="689449"/>
                    <a:pt x="53523" y="677711"/>
                    <a:pt x="32631" y="656818"/>
                  </a:cubicBezTo>
                  <a:cubicBezTo>
                    <a:pt x="11738" y="635925"/>
                    <a:pt x="0" y="607588"/>
                    <a:pt x="0" y="578041"/>
                  </a:cubicBezTo>
                  <a:lnTo>
                    <a:pt x="0" y="111408"/>
                  </a:lnTo>
                  <a:cubicBezTo>
                    <a:pt x="0" y="81860"/>
                    <a:pt x="11738" y="53523"/>
                    <a:pt x="32631" y="32631"/>
                  </a:cubicBezTo>
                  <a:cubicBezTo>
                    <a:pt x="53523" y="11738"/>
                    <a:pt x="81860" y="0"/>
                    <a:pt x="111408" y="0"/>
                  </a:cubicBezTo>
                  <a:close/>
                </a:path>
              </a:pathLst>
            </a:custGeom>
            <a:blipFill>
              <a:blip r:embed="rId8"/>
              <a:stretch>
                <a:fillRect l="-135" t="0" r="-13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379998" y="6121868"/>
            <a:ext cx="2779676" cy="2599230"/>
            <a:chOff x="0" y="0"/>
            <a:chExt cx="738346" cy="6904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8346" cy="690415"/>
            </a:xfrm>
            <a:custGeom>
              <a:avLst/>
              <a:gdLst/>
              <a:ahLst/>
              <a:cxnLst/>
              <a:rect r="r" b="b" t="t" l="l"/>
              <a:pathLst>
                <a:path h="690415" w="738346">
                  <a:moveTo>
                    <a:pt x="111408" y="0"/>
                  </a:moveTo>
                  <a:lnTo>
                    <a:pt x="626938" y="0"/>
                  </a:lnTo>
                  <a:cubicBezTo>
                    <a:pt x="656485" y="0"/>
                    <a:pt x="684822" y="11738"/>
                    <a:pt x="705715" y="32631"/>
                  </a:cubicBezTo>
                  <a:cubicBezTo>
                    <a:pt x="726608" y="53523"/>
                    <a:pt x="738346" y="81860"/>
                    <a:pt x="738346" y="111408"/>
                  </a:cubicBezTo>
                  <a:lnTo>
                    <a:pt x="738346" y="579008"/>
                  </a:lnTo>
                  <a:cubicBezTo>
                    <a:pt x="738346" y="640537"/>
                    <a:pt x="688467" y="690415"/>
                    <a:pt x="626938" y="690415"/>
                  </a:cubicBezTo>
                  <a:lnTo>
                    <a:pt x="111408" y="690415"/>
                  </a:lnTo>
                  <a:cubicBezTo>
                    <a:pt x="81860" y="690415"/>
                    <a:pt x="53523" y="678678"/>
                    <a:pt x="32631" y="657785"/>
                  </a:cubicBezTo>
                  <a:cubicBezTo>
                    <a:pt x="11738" y="636892"/>
                    <a:pt x="0" y="608555"/>
                    <a:pt x="0" y="579008"/>
                  </a:cubicBezTo>
                  <a:lnTo>
                    <a:pt x="0" y="111408"/>
                  </a:lnTo>
                  <a:cubicBezTo>
                    <a:pt x="0" y="81860"/>
                    <a:pt x="11738" y="53523"/>
                    <a:pt x="32631" y="32631"/>
                  </a:cubicBezTo>
                  <a:cubicBezTo>
                    <a:pt x="53523" y="11738"/>
                    <a:pt x="81860" y="0"/>
                    <a:pt x="111408" y="0"/>
                  </a:cubicBezTo>
                  <a:close/>
                </a:path>
              </a:pathLst>
            </a:custGeom>
            <a:blipFill>
              <a:blip r:embed="rId9"/>
              <a:stretch>
                <a:fillRect l="-205" t="0" r="-20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379998" y="1799522"/>
            <a:ext cx="2779676" cy="2595591"/>
            <a:chOff x="0" y="0"/>
            <a:chExt cx="738346" cy="6894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11408" y="0"/>
                  </a:moveTo>
                  <a:lnTo>
                    <a:pt x="626938" y="0"/>
                  </a:lnTo>
                  <a:cubicBezTo>
                    <a:pt x="656485" y="0"/>
                    <a:pt x="684822" y="11738"/>
                    <a:pt x="705715" y="32631"/>
                  </a:cubicBezTo>
                  <a:cubicBezTo>
                    <a:pt x="726608" y="53523"/>
                    <a:pt x="738346" y="81860"/>
                    <a:pt x="738346" y="111408"/>
                  </a:cubicBezTo>
                  <a:lnTo>
                    <a:pt x="738346" y="578041"/>
                  </a:lnTo>
                  <a:cubicBezTo>
                    <a:pt x="738346" y="639570"/>
                    <a:pt x="688467" y="689449"/>
                    <a:pt x="626938" y="689449"/>
                  </a:cubicBezTo>
                  <a:lnTo>
                    <a:pt x="111408" y="689449"/>
                  </a:lnTo>
                  <a:cubicBezTo>
                    <a:pt x="81860" y="689449"/>
                    <a:pt x="53523" y="677711"/>
                    <a:pt x="32631" y="656818"/>
                  </a:cubicBezTo>
                  <a:cubicBezTo>
                    <a:pt x="11738" y="635925"/>
                    <a:pt x="0" y="607588"/>
                    <a:pt x="0" y="578041"/>
                  </a:cubicBezTo>
                  <a:lnTo>
                    <a:pt x="0" y="111408"/>
                  </a:lnTo>
                  <a:cubicBezTo>
                    <a:pt x="0" y="81860"/>
                    <a:pt x="11738" y="53523"/>
                    <a:pt x="32631" y="32631"/>
                  </a:cubicBezTo>
                  <a:cubicBezTo>
                    <a:pt x="53523" y="11738"/>
                    <a:pt x="81860" y="0"/>
                    <a:pt x="111408" y="0"/>
                  </a:cubicBezTo>
                  <a:close/>
                </a:path>
              </a:pathLst>
            </a:custGeom>
            <a:blipFill>
              <a:blip r:embed="rId10"/>
              <a:stretch>
                <a:fillRect l="-135" t="0" r="-13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05020" y="6125507"/>
            <a:ext cx="2779676" cy="2630482"/>
            <a:chOff x="0" y="0"/>
            <a:chExt cx="738346" cy="6987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8346" cy="698717"/>
            </a:xfrm>
            <a:custGeom>
              <a:avLst/>
              <a:gdLst/>
              <a:ahLst/>
              <a:cxnLst/>
              <a:rect r="r" b="b" t="t" l="l"/>
              <a:pathLst>
                <a:path h="698717" w="738346">
                  <a:moveTo>
                    <a:pt x="111408" y="0"/>
                  </a:moveTo>
                  <a:lnTo>
                    <a:pt x="626938" y="0"/>
                  </a:lnTo>
                  <a:cubicBezTo>
                    <a:pt x="656485" y="0"/>
                    <a:pt x="684822" y="11738"/>
                    <a:pt x="705715" y="32631"/>
                  </a:cubicBezTo>
                  <a:cubicBezTo>
                    <a:pt x="726608" y="53523"/>
                    <a:pt x="738346" y="81860"/>
                    <a:pt x="738346" y="111408"/>
                  </a:cubicBezTo>
                  <a:lnTo>
                    <a:pt x="738346" y="587309"/>
                  </a:lnTo>
                  <a:cubicBezTo>
                    <a:pt x="738346" y="616856"/>
                    <a:pt x="726608" y="645193"/>
                    <a:pt x="705715" y="666086"/>
                  </a:cubicBezTo>
                  <a:cubicBezTo>
                    <a:pt x="684822" y="686979"/>
                    <a:pt x="656485" y="698717"/>
                    <a:pt x="626938" y="698717"/>
                  </a:cubicBezTo>
                  <a:lnTo>
                    <a:pt x="111408" y="698717"/>
                  </a:lnTo>
                  <a:cubicBezTo>
                    <a:pt x="81860" y="698717"/>
                    <a:pt x="53523" y="686979"/>
                    <a:pt x="32631" y="666086"/>
                  </a:cubicBezTo>
                  <a:cubicBezTo>
                    <a:pt x="11738" y="645193"/>
                    <a:pt x="0" y="616856"/>
                    <a:pt x="0" y="587309"/>
                  </a:cubicBezTo>
                  <a:lnTo>
                    <a:pt x="0" y="111408"/>
                  </a:lnTo>
                  <a:cubicBezTo>
                    <a:pt x="0" y="81860"/>
                    <a:pt x="11738" y="53523"/>
                    <a:pt x="32631" y="32631"/>
                  </a:cubicBezTo>
                  <a:cubicBezTo>
                    <a:pt x="53523" y="11738"/>
                    <a:pt x="81860" y="0"/>
                    <a:pt x="111408" y="0"/>
                  </a:cubicBezTo>
                  <a:close/>
                </a:path>
              </a:pathLst>
            </a:custGeom>
            <a:blipFill>
              <a:blip r:embed="rId11"/>
              <a:stretch>
                <a:fillRect l="-203" t="0" r="-203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3628" y="4594283"/>
            <a:ext cx="3204265" cy="850400"/>
            <a:chOff x="0" y="0"/>
            <a:chExt cx="4272354" cy="113386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28575"/>
              <a:ext cx="4272354" cy="37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70"/>
                </a:lnSpc>
                <a:spcBef>
                  <a:spcPct val="0"/>
                </a:spcBef>
              </a:pPr>
              <a:r>
                <a:rPr lang="en-US" b="true" sz="1764">
                  <a:solidFill>
                    <a:srgbClr val="E0E6F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PLAN FREE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375257"/>
              <a:ext cx="4272354" cy="758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1"/>
                </a:lnSpc>
              </a:pPr>
              <a:r>
                <a:rPr lang="en-US" sz="1693" u="none">
                  <a:solidFill>
                    <a:srgbClr val="E0E6F0"/>
                  </a:solidFill>
                  <a:latin typeface="Touvlo"/>
                  <a:ea typeface="Touvlo"/>
                  <a:cs typeface="Touvlo"/>
                  <a:sym typeface="Touvlo"/>
                </a:rPr>
                <a:t>Comienza sin costo, ideal para nuevos usuarios.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1955" y="8851603"/>
            <a:ext cx="3355939" cy="1132421"/>
            <a:chOff x="0" y="0"/>
            <a:chExt cx="4474585" cy="1509895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38100"/>
              <a:ext cx="4474585" cy="405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7"/>
                </a:lnSpc>
                <a:spcBef>
                  <a:spcPct val="0"/>
                </a:spcBef>
              </a:pPr>
              <a:r>
                <a:rPr lang="en-US" b="true" sz="1847">
                  <a:solidFill>
                    <a:srgbClr val="E0E6F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PLAN PREMIUM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384847"/>
              <a:ext cx="4474585" cy="1125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7"/>
                </a:lnSpc>
              </a:pPr>
              <a:r>
                <a:rPr lang="en-US" sz="1655" u="none">
                  <a:solidFill>
                    <a:srgbClr val="E0E6F0"/>
                  </a:solidFill>
                  <a:latin typeface="Touvlo"/>
                  <a:ea typeface="Touvlo"/>
                  <a:cs typeface="Touvlo"/>
                  <a:sym typeface="Touvlo"/>
                </a:rPr>
                <a:t>Incluye funciones avanzadas y soporte prioritario. CLP $4990/MES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10895" y="8851603"/>
            <a:ext cx="3355939" cy="846671"/>
            <a:chOff x="0" y="0"/>
            <a:chExt cx="4474585" cy="1128895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38100"/>
              <a:ext cx="4474585" cy="405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7"/>
                </a:lnSpc>
                <a:spcBef>
                  <a:spcPct val="0"/>
                </a:spcBef>
              </a:pPr>
              <a:r>
                <a:rPr lang="en-US" b="true" sz="1847">
                  <a:solidFill>
                    <a:srgbClr val="E0E6F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PLAN B2B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84847"/>
              <a:ext cx="4474585" cy="744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7"/>
                </a:lnSpc>
              </a:pPr>
              <a:r>
                <a:rPr lang="en-US" sz="1655" u="none">
                  <a:solidFill>
                    <a:srgbClr val="E0E6F0"/>
                  </a:solidFill>
                  <a:latin typeface="Touvlo"/>
                  <a:ea typeface="Touvlo"/>
                  <a:cs typeface="Touvlo"/>
                  <a:sym typeface="Touvlo"/>
                </a:rPr>
                <a:t>Soluciones personalizadas para empresas y licenciamiento.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10895" y="4594283"/>
            <a:ext cx="3355939" cy="846671"/>
            <a:chOff x="0" y="0"/>
            <a:chExt cx="4474585" cy="1128895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38100"/>
              <a:ext cx="4474585" cy="405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7"/>
                </a:lnSpc>
                <a:spcBef>
                  <a:spcPct val="0"/>
                </a:spcBef>
              </a:pPr>
              <a:r>
                <a:rPr lang="en-US" b="true" sz="1847">
                  <a:solidFill>
                    <a:srgbClr val="E0E6F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ANUNCIOS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384847"/>
              <a:ext cx="4474585" cy="744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7"/>
                </a:lnSpc>
              </a:pPr>
              <a:r>
                <a:rPr lang="en-US" sz="1655">
                  <a:solidFill>
                    <a:srgbClr val="E0E6F0"/>
                  </a:solidFill>
                  <a:latin typeface="Touvlo"/>
                  <a:ea typeface="Touvlo"/>
                  <a:cs typeface="Touvlo"/>
                  <a:sym typeface="Touvlo"/>
                </a:rPr>
                <a:t>Mostrar anuncios a los usuarios dentro de la app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064316" y="795967"/>
            <a:ext cx="7536061" cy="46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</a:pPr>
            <a:r>
              <a:rPr lang="en-US" b="true" sz="3400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Estrategias de Adquisición de Usuarios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505020" y="4665675"/>
            <a:ext cx="2779676" cy="1292394"/>
            <a:chOff x="0" y="0"/>
            <a:chExt cx="3706234" cy="1723192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0"/>
              <a:ext cx="3705607" cy="441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7"/>
                </a:lnSpc>
                <a:spcBef>
                  <a:spcPct val="0"/>
                </a:spcBef>
              </a:pPr>
              <a:r>
                <a:rPr lang="en-US" b="true" sz="2205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REDES SOCIALES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602240"/>
              <a:ext cx="3706234" cy="1120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5"/>
                </a:lnSpc>
              </a:pPr>
              <a:r>
                <a:rPr lang="en-US" sz="1765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Contenido orgánico en plataformas de video y redes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379998" y="4665675"/>
            <a:ext cx="2779676" cy="1264782"/>
            <a:chOff x="0" y="0"/>
            <a:chExt cx="3706234" cy="1686375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0"/>
              <a:ext cx="3705607" cy="404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35"/>
                </a:lnSpc>
                <a:spcBef>
                  <a:spcPct val="0"/>
                </a:spcBef>
              </a:pPr>
              <a:r>
                <a:rPr lang="en-US" b="true" sz="2029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ALIANZAS ESTRATEGICAS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565423"/>
              <a:ext cx="3706234" cy="1120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5"/>
                </a:lnSpc>
              </a:pPr>
              <a:r>
                <a:rPr lang="en-US" sz="1765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Convenios con instituciones y influencers financieros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505020" y="8991660"/>
            <a:ext cx="2779676" cy="1007063"/>
            <a:chOff x="0" y="0"/>
            <a:chExt cx="3706234" cy="134275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0"/>
              <a:ext cx="3705607" cy="441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7"/>
                </a:lnSpc>
                <a:spcBef>
                  <a:spcPct val="0"/>
                </a:spcBef>
              </a:pPr>
              <a:r>
                <a:rPr lang="en-US" b="true" sz="2205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CONTENIDO EDUCATIVO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602240"/>
              <a:ext cx="3706234" cy="740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5"/>
                </a:lnSpc>
              </a:pPr>
              <a:r>
                <a:rPr lang="en-US" sz="1765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Guías y posts sobre gestión financiera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379998" y="8991660"/>
            <a:ext cx="2779676" cy="980511"/>
            <a:chOff x="0" y="0"/>
            <a:chExt cx="3706234" cy="1307348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-9525"/>
              <a:ext cx="370560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012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PROGRAMA DE REFERIDOS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566837"/>
              <a:ext cx="3706234" cy="740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5"/>
                </a:lnSpc>
              </a:pPr>
              <a:r>
                <a:rPr lang="en-US" sz="1765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Invita a amigos y gana meses premium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802700" y="-232972"/>
            <a:ext cx="2261616" cy="10519972"/>
            <a:chOff x="0" y="0"/>
            <a:chExt cx="3015488" cy="14026629"/>
          </a:xfrm>
        </p:grpSpPr>
        <p:sp>
          <p:nvSpPr>
            <p:cNvPr name="Freeform 50" id="50"/>
            <p:cNvSpPr/>
            <p:nvPr/>
          </p:nvSpPr>
          <p:spPr>
            <a:xfrm flipH="false" flipV="false" rot="-5400000">
              <a:off x="-3369056" y="3369056"/>
              <a:ext cx="9753600" cy="3015488"/>
            </a:xfrm>
            <a:custGeom>
              <a:avLst/>
              <a:gdLst/>
              <a:ahLst/>
              <a:cxnLst/>
              <a:rect r="r" b="b" t="t" l="l"/>
              <a:pathLst>
                <a:path h="30154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015488"/>
                  </a:lnTo>
                  <a:lnTo>
                    <a:pt x="0" y="301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-5400000">
              <a:off x="-3369056" y="7642085"/>
              <a:ext cx="9753600" cy="3015488"/>
            </a:xfrm>
            <a:custGeom>
              <a:avLst/>
              <a:gdLst/>
              <a:ahLst/>
              <a:cxnLst/>
              <a:rect r="r" b="b" t="t" l="l"/>
              <a:pathLst>
                <a:path h="30154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015488"/>
                  </a:lnTo>
                  <a:lnTo>
                    <a:pt x="0" y="301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3443" y="309279"/>
            <a:ext cx="17061113" cy="90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68"/>
              </a:lnSpc>
              <a:spcBef>
                <a:spcPct val="0"/>
              </a:spcBef>
            </a:pPr>
            <a:r>
              <a:rPr lang="en-US" b="true" sz="6768" spc="-135">
                <a:solidFill>
                  <a:srgbClr val="000000"/>
                </a:solidFill>
                <a:latin typeface="Barlow 2 Bold"/>
                <a:ea typeface="Barlow 2 Bold"/>
                <a:cs typeface="Barlow 2 Bold"/>
                <a:sym typeface="Barlow 2 Bold"/>
              </a:rPr>
              <a:t>Riesgos y mitigaciones clave del proyecto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147911">
            <a:off x="1148823" y="5307433"/>
            <a:ext cx="5637218" cy="1414429"/>
          </a:xfrm>
          <a:custGeom>
            <a:avLst/>
            <a:gdLst/>
            <a:ahLst/>
            <a:cxnLst/>
            <a:rect r="r" b="b" t="t" l="l"/>
            <a:pathLst>
              <a:path h="1414429" w="5637218">
                <a:moveTo>
                  <a:pt x="0" y="0"/>
                </a:moveTo>
                <a:lnTo>
                  <a:pt x="5637218" y="0"/>
                </a:lnTo>
                <a:lnTo>
                  <a:pt x="5637218" y="1414429"/>
                </a:lnTo>
                <a:lnTo>
                  <a:pt x="0" y="1414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11009" y="1342428"/>
            <a:ext cx="4732991" cy="4470704"/>
          </a:xfrm>
          <a:custGeom>
            <a:avLst/>
            <a:gdLst/>
            <a:ahLst/>
            <a:cxnLst/>
            <a:rect r="r" b="b" t="t" l="l"/>
            <a:pathLst>
              <a:path h="4470704" w="4732991">
                <a:moveTo>
                  <a:pt x="0" y="0"/>
                </a:moveTo>
                <a:lnTo>
                  <a:pt x="4732991" y="0"/>
                </a:lnTo>
                <a:lnTo>
                  <a:pt x="4732991" y="4470704"/>
                </a:lnTo>
                <a:lnTo>
                  <a:pt x="0" y="4470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99470" y="1913785"/>
            <a:ext cx="4337924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400" spc="-4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Producto poco útil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99470" y="2580315"/>
            <a:ext cx="4337924" cy="65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</a:t>
            </a:r>
            <a:r>
              <a:rPr lang="en-US" sz="18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esgo: No entregar un producto acorde a las necesidades de los clientes</a:t>
            </a:r>
          </a:p>
        </p:txBody>
      </p:sp>
      <p:sp>
        <p:nvSpPr>
          <p:cNvPr name="AutoShape 7" id="7"/>
          <p:cNvSpPr/>
          <p:nvPr/>
        </p:nvSpPr>
        <p:spPr>
          <a:xfrm>
            <a:off x="4599470" y="2425167"/>
            <a:ext cx="433792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4599470" y="3513045"/>
            <a:ext cx="4456291" cy="29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7"/>
              </a:lnSpc>
            </a:pPr>
            <a:r>
              <a:rPr lang="en-US" b="true" sz="2397" spc="-47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Mitigación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99470" y="4057159"/>
            <a:ext cx="4456291" cy="98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0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Realizar encuestas y  entrevistas para recopilar información y entregar un producto único y útil a la sociedad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599474" y="3947160"/>
            <a:ext cx="4358937" cy="348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750663" y="5773612"/>
            <a:ext cx="4732991" cy="4470704"/>
            <a:chOff x="0" y="0"/>
            <a:chExt cx="6310654" cy="59609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10654" cy="5960939"/>
            </a:xfrm>
            <a:custGeom>
              <a:avLst/>
              <a:gdLst/>
              <a:ahLst/>
              <a:cxnLst/>
              <a:rect r="r" b="b" t="t" l="l"/>
              <a:pathLst>
                <a:path h="5960939" w="6310654">
                  <a:moveTo>
                    <a:pt x="0" y="0"/>
                  </a:moveTo>
                  <a:lnTo>
                    <a:pt x="6310654" y="0"/>
                  </a:lnTo>
                  <a:lnTo>
                    <a:pt x="6310654" y="5960939"/>
                  </a:lnTo>
                  <a:lnTo>
                    <a:pt x="0" y="596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99050" y="990528"/>
              <a:ext cx="5323772" cy="430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Chatbot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7832" y="1921480"/>
              <a:ext cx="5323772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Ri</a:t>
              </a:r>
              <a:r>
                <a:rPr lang="en-US" sz="189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esgo: Sobrecostos al utilizar el asistente financiero</a:t>
              </a:r>
            </a:p>
            <a:p>
              <a:pPr algn="just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487832" y="1725858"/>
              <a:ext cx="5323772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508268" y="3024727"/>
              <a:ext cx="5314554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b="true" sz="2400" spc="-48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Mitigación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268" y="3829148"/>
              <a:ext cx="5314554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pc="-3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Buscamos el modelo acorde a nuestros requerimientos, manteniendo la calidad de las respuestas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508268" y="3664002"/>
              <a:ext cx="5314554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-2700000">
            <a:off x="7075640" y="4997339"/>
            <a:ext cx="5637218" cy="1414429"/>
          </a:xfrm>
          <a:custGeom>
            <a:avLst/>
            <a:gdLst/>
            <a:ahLst/>
            <a:cxnLst/>
            <a:rect r="r" b="b" t="t" l="l"/>
            <a:pathLst>
              <a:path h="1414429" w="5637218">
                <a:moveTo>
                  <a:pt x="0" y="0"/>
                </a:moveTo>
                <a:lnTo>
                  <a:pt x="5637218" y="0"/>
                </a:lnTo>
                <a:lnTo>
                  <a:pt x="5637218" y="1414430"/>
                </a:lnTo>
                <a:lnTo>
                  <a:pt x="0" y="1414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274836" y="1866160"/>
            <a:ext cx="3770239" cy="2686050"/>
            <a:chOff x="0" y="0"/>
            <a:chExt cx="910777" cy="6488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0777" cy="648869"/>
            </a:xfrm>
            <a:custGeom>
              <a:avLst/>
              <a:gdLst/>
              <a:ahLst/>
              <a:cxnLst/>
              <a:rect r="r" b="b" t="t" l="l"/>
              <a:pathLst>
                <a:path h="648869" w="910777">
                  <a:moveTo>
                    <a:pt x="51336" y="0"/>
                  </a:moveTo>
                  <a:lnTo>
                    <a:pt x="859441" y="0"/>
                  </a:lnTo>
                  <a:cubicBezTo>
                    <a:pt x="887793" y="0"/>
                    <a:pt x="910777" y="22984"/>
                    <a:pt x="910777" y="51336"/>
                  </a:cubicBezTo>
                  <a:lnTo>
                    <a:pt x="910777" y="597534"/>
                  </a:lnTo>
                  <a:cubicBezTo>
                    <a:pt x="910777" y="625885"/>
                    <a:pt x="887793" y="648869"/>
                    <a:pt x="859441" y="648869"/>
                  </a:cubicBezTo>
                  <a:lnTo>
                    <a:pt x="51336" y="648869"/>
                  </a:lnTo>
                  <a:cubicBezTo>
                    <a:pt x="22984" y="648869"/>
                    <a:pt x="0" y="625885"/>
                    <a:pt x="0" y="597534"/>
                  </a:cubicBezTo>
                  <a:lnTo>
                    <a:pt x="0" y="51336"/>
                  </a:lnTo>
                  <a:cubicBezTo>
                    <a:pt x="0" y="22984"/>
                    <a:pt x="22984" y="0"/>
                    <a:pt x="51336" y="0"/>
                  </a:cubicBezTo>
                  <a:close/>
                </a:path>
              </a:pathLst>
            </a:custGeom>
            <a:blipFill>
              <a:blip r:embed="rId6"/>
              <a:stretch>
                <a:fillRect l="-3384" t="0" r="-3384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-10676830">
            <a:off x="-558492" y="-183848"/>
            <a:ext cx="4329861" cy="3052552"/>
          </a:xfrm>
          <a:custGeom>
            <a:avLst/>
            <a:gdLst/>
            <a:ahLst/>
            <a:cxnLst/>
            <a:rect r="r" b="b" t="t" l="l"/>
            <a:pathLst>
              <a:path h="3052552" w="4329861">
                <a:moveTo>
                  <a:pt x="0" y="0"/>
                </a:moveTo>
                <a:lnTo>
                  <a:pt x="4329861" y="0"/>
                </a:lnTo>
                <a:lnTo>
                  <a:pt x="4329861" y="3052552"/>
                </a:lnTo>
                <a:lnTo>
                  <a:pt x="0" y="3052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05809" y="1866160"/>
            <a:ext cx="3770239" cy="2686050"/>
            <a:chOff x="0" y="0"/>
            <a:chExt cx="910777" cy="6488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0777" cy="648869"/>
            </a:xfrm>
            <a:custGeom>
              <a:avLst/>
              <a:gdLst/>
              <a:ahLst/>
              <a:cxnLst/>
              <a:rect r="r" b="b" t="t" l="l"/>
              <a:pathLst>
                <a:path h="648869" w="910777">
                  <a:moveTo>
                    <a:pt x="51336" y="0"/>
                  </a:moveTo>
                  <a:lnTo>
                    <a:pt x="859441" y="0"/>
                  </a:lnTo>
                  <a:cubicBezTo>
                    <a:pt x="887793" y="0"/>
                    <a:pt x="910777" y="22984"/>
                    <a:pt x="910777" y="51336"/>
                  </a:cubicBezTo>
                  <a:lnTo>
                    <a:pt x="910777" y="597534"/>
                  </a:lnTo>
                  <a:cubicBezTo>
                    <a:pt x="910777" y="625885"/>
                    <a:pt x="887793" y="648869"/>
                    <a:pt x="859441" y="648869"/>
                  </a:cubicBezTo>
                  <a:lnTo>
                    <a:pt x="51336" y="648869"/>
                  </a:lnTo>
                  <a:cubicBezTo>
                    <a:pt x="22984" y="648869"/>
                    <a:pt x="0" y="625885"/>
                    <a:pt x="0" y="597534"/>
                  </a:cubicBezTo>
                  <a:lnTo>
                    <a:pt x="0" y="51336"/>
                  </a:lnTo>
                  <a:cubicBezTo>
                    <a:pt x="0" y="22984"/>
                    <a:pt x="22984" y="0"/>
                    <a:pt x="51336" y="0"/>
                  </a:cubicBezTo>
                  <a:close/>
                </a:path>
              </a:pathLst>
            </a:custGeom>
            <a:blipFill>
              <a:blip r:embed="rId9"/>
              <a:stretch>
                <a:fillRect l="-3466" t="0" r="-346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36041" y="6473646"/>
            <a:ext cx="3762605" cy="2630286"/>
            <a:chOff x="0" y="0"/>
            <a:chExt cx="928203" cy="6488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8203" cy="648869"/>
            </a:xfrm>
            <a:custGeom>
              <a:avLst/>
              <a:gdLst/>
              <a:ahLst/>
              <a:cxnLst/>
              <a:rect r="r" b="b" t="t" l="l"/>
              <a:pathLst>
                <a:path h="648869" w="928203">
                  <a:moveTo>
                    <a:pt x="51440" y="0"/>
                  </a:moveTo>
                  <a:lnTo>
                    <a:pt x="876763" y="0"/>
                  </a:lnTo>
                  <a:cubicBezTo>
                    <a:pt x="905172" y="0"/>
                    <a:pt x="928203" y="23030"/>
                    <a:pt x="928203" y="51440"/>
                  </a:cubicBezTo>
                  <a:lnTo>
                    <a:pt x="928203" y="597429"/>
                  </a:lnTo>
                  <a:cubicBezTo>
                    <a:pt x="928203" y="625839"/>
                    <a:pt x="905172" y="648869"/>
                    <a:pt x="876763" y="648869"/>
                  </a:cubicBezTo>
                  <a:lnTo>
                    <a:pt x="51440" y="648869"/>
                  </a:lnTo>
                  <a:cubicBezTo>
                    <a:pt x="23030" y="648869"/>
                    <a:pt x="0" y="625839"/>
                    <a:pt x="0" y="597429"/>
                  </a:cubicBezTo>
                  <a:lnTo>
                    <a:pt x="0" y="51440"/>
                  </a:lnTo>
                  <a:cubicBezTo>
                    <a:pt x="0" y="23030"/>
                    <a:pt x="23030" y="0"/>
                    <a:pt x="51440" y="0"/>
                  </a:cubicBezTo>
                  <a:close/>
                </a:path>
              </a:pathLst>
            </a:custGeom>
            <a:blipFill>
              <a:blip r:embed="rId10"/>
              <a:stretch>
                <a:fillRect l="-2381" t="0" r="-2381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083175" y="1342428"/>
            <a:ext cx="4732991" cy="4470704"/>
            <a:chOff x="0" y="0"/>
            <a:chExt cx="6310654" cy="59609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10654" cy="5960939"/>
            </a:xfrm>
            <a:custGeom>
              <a:avLst/>
              <a:gdLst/>
              <a:ahLst/>
              <a:cxnLst/>
              <a:rect r="r" b="b" t="t" l="l"/>
              <a:pathLst>
                <a:path h="5960939" w="6310654">
                  <a:moveTo>
                    <a:pt x="0" y="0"/>
                  </a:moveTo>
                  <a:lnTo>
                    <a:pt x="6310654" y="0"/>
                  </a:lnTo>
                  <a:lnTo>
                    <a:pt x="6310654" y="5960939"/>
                  </a:lnTo>
                  <a:lnTo>
                    <a:pt x="0" y="596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504544" y="2834914"/>
              <a:ext cx="5253962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b="true" sz="2400" spc="-48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Mitigación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04544" y="3601760"/>
              <a:ext cx="5253962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 cambió el lenguaje de programación de Python a TypeScript </a:t>
              </a:r>
            </a:p>
          </p:txBody>
        </p:sp>
        <p:sp>
          <p:nvSpPr>
            <p:cNvPr name="AutoShape 31" id="31"/>
            <p:cNvSpPr/>
            <p:nvPr/>
          </p:nvSpPr>
          <p:spPr>
            <a:xfrm>
              <a:off x="504544" y="3457415"/>
              <a:ext cx="5253962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2" id="32"/>
            <p:cNvSpPr txBox="true"/>
            <p:nvPr/>
          </p:nvSpPr>
          <p:spPr>
            <a:xfrm rot="0">
              <a:off x="504544" y="745934"/>
              <a:ext cx="5253962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b="true" sz="2400" spc="-48">
                  <a:solidFill>
                    <a:srgbClr val="00000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Lenguaje de programación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4544" y="1603227"/>
              <a:ext cx="5253962" cy="885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8"/>
                </a:lnSpc>
                <a:spcBef>
                  <a:spcPct val="0"/>
                </a:spcBef>
              </a:pPr>
              <a:r>
                <a:rPr lang="en-US" sz="197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Riesgo: Problemas con la conexión a la base de datos</a:t>
              </a:r>
            </a:p>
          </p:txBody>
        </p:sp>
        <p:sp>
          <p:nvSpPr>
            <p:cNvPr name="AutoShape 34" id="34"/>
            <p:cNvSpPr/>
            <p:nvPr/>
          </p:nvSpPr>
          <p:spPr>
            <a:xfrm flipV="true">
              <a:off x="504544" y="1430953"/>
              <a:ext cx="5301567" cy="1270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4667714" y="-2310067"/>
            <a:ext cx="6253479" cy="3524688"/>
          </a:xfrm>
          <a:custGeom>
            <a:avLst/>
            <a:gdLst/>
            <a:ahLst/>
            <a:cxnLst/>
            <a:rect r="r" b="b" t="t" l="l"/>
            <a:pathLst>
              <a:path h="3524688" w="6253479">
                <a:moveTo>
                  <a:pt x="0" y="0"/>
                </a:moveTo>
                <a:lnTo>
                  <a:pt x="6253479" y="0"/>
                </a:lnTo>
                <a:lnTo>
                  <a:pt x="6253479" y="3524688"/>
                </a:lnTo>
                <a:lnTo>
                  <a:pt x="0" y="3524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-3000186">
            <a:off x="14441796" y="4057021"/>
            <a:ext cx="11384603" cy="4098457"/>
          </a:xfrm>
          <a:custGeom>
            <a:avLst/>
            <a:gdLst/>
            <a:ahLst/>
            <a:cxnLst/>
            <a:rect r="r" b="b" t="t" l="l"/>
            <a:pathLst>
              <a:path h="4098457" w="11384603">
                <a:moveTo>
                  <a:pt x="11384603" y="0"/>
                </a:moveTo>
                <a:lnTo>
                  <a:pt x="0" y="0"/>
                </a:lnTo>
                <a:lnTo>
                  <a:pt x="0" y="4098457"/>
                </a:lnTo>
                <a:lnTo>
                  <a:pt x="11384603" y="4098457"/>
                </a:lnTo>
                <a:lnTo>
                  <a:pt x="11384603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-816909" y="8736536"/>
            <a:ext cx="5063099" cy="2970352"/>
          </a:xfrm>
          <a:custGeom>
            <a:avLst/>
            <a:gdLst/>
            <a:ahLst/>
            <a:cxnLst/>
            <a:rect r="r" b="b" t="t" l="l"/>
            <a:pathLst>
              <a:path h="2970352" w="5063099">
                <a:moveTo>
                  <a:pt x="0" y="0"/>
                </a:moveTo>
                <a:lnTo>
                  <a:pt x="5063099" y="0"/>
                </a:lnTo>
                <a:lnTo>
                  <a:pt x="5063099" y="2970352"/>
                </a:lnTo>
                <a:lnTo>
                  <a:pt x="0" y="29703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2322180" y="8818702"/>
            <a:ext cx="6253479" cy="3524688"/>
          </a:xfrm>
          <a:custGeom>
            <a:avLst/>
            <a:gdLst/>
            <a:ahLst/>
            <a:cxnLst/>
            <a:rect r="r" b="b" t="t" l="l"/>
            <a:pathLst>
              <a:path h="3524688" w="6253479">
                <a:moveTo>
                  <a:pt x="0" y="0"/>
                </a:moveTo>
                <a:lnTo>
                  <a:pt x="6253478" y="0"/>
                </a:lnTo>
                <a:lnTo>
                  <a:pt x="6253478" y="3524688"/>
                </a:lnTo>
                <a:lnTo>
                  <a:pt x="0" y="3524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4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075420"/>
          </a:xfrm>
          <a:custGeom>
            <a:avLst/>
            <a:gdLst/>
            <a:ahLst/>
            <a:cxnLst/>
            <a:rect r="r" b="b" t="t" l="l"/>
            <a:pathLst>
              <a:path h="9075420" w="18288000">
                <a:moveTo>
                  <a:pt x="0" y="0"/>
                </a:moveTo>
                <a:lnTo>
                  <a:pt x="18288000" y="0"/>
                </a:lnTo>
                <a:lnTo>
                  <a:pt x="18288000" y="9075420"/>
                </a:lnTo>
                <a:lnTo>
                  <a:pt x="0" y="907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027153" y="1257873"/>
            <a:ext cx="6144981" cy="12289962"/>
            <a:chOff x="0" y="0"/>
            <a:chExt cx="317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6350000"/>
                  </a:moveTo>
                  <a:lnTo>
                    <a:pt x="508000" y="6350000"/>
                  </a:lnTo>
                  <a:cubicBezTo>
                    <a:pt x="227330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227330" y="0"/>
                    <a:pt x="508000" y="0"/>
                  </a:cubicBezTo>
                  <a:lnTo>
                    <a:pt x="2667000" y="0"/>
                  </a:lnTo>
                  <a:cubicBezTo>
                    <a:pt x="2947670" y="0"/>
                    <a:pt x="3175000" y="227330"/>
                    <a:pt x="3175000" y="508000"/>
                  </a:cubicBezTo>
                  <a:lnTo>
                    <a:pt x="3175000" y="5842000"/>
                  </a:lnTo>
                  <a:cubicBezTo>
                    <a:pt x="3175000" y="6122670"/>
                    <a:pt x="2947670" y="6350000"/>
                    <a:pt x="2667000" y="6350000"/>
                  </a:cubicBezTo>
                  <a:close/>
                </a:path>
              </a:pathLst>
            </a:custGeom>
            <a:solidFill>
              <a:srgbClr val="FFD74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19050"/>
                  </a:moveTo>
                  <a:cubicBezTo>
                    <a:pt x="2936240" y="19050"/>
                    <a:pt x="3155950" y="238760"/>
                    <a:pt x="3155950" y="508000"/>
                  </a:cubicBezTo>
                  <a:lnTo>
                    <a:pt x="3155950" y="5842000"/>
                  </a:lnTo>
                  <a:cubicBezTo>
                    <a:pt x="3155950" y="6111240"/>
                    <a:pt x="2936240" y="6330950"/>
                    <a:pt x="2667000" y="6330950"/>
                  </a:cubicBezTo>
                  <a:lnTo>
                    <a:pt x="508000" y="6330950"/>
                  </a:lnTo>
                  <a:cubicBezTo>
                    <a:pt x="238760" y="6330950"/>
                    <a:pt x="19050" y="6111240"/>
                    <a:pt x="19050" y="5842000"/>
                  </a:cubicBezTo>
                  <a:lnTo>
                    <a:pt x="19050" y="508000"/>
                  </a:lnTo>
                  <a:cubicBezTo>
                    <a:pt x="19050" y="238760"/>
                    <a:pt x="238760" y="19050"/>
                    <a:pt x="508000" y="19050"/>
                  </a:cubicBezTo>
                  <a:lnTo>
                    <a:pt x="2667000" y="19050"/>
                  </a:lnTo>
                  <a:moveTo>
                    <a:pt x="2667000" y="0"/>
                  </a:moveTo>
                  <a:lnTo>
                    <a:pt x="508000" y="0"/>
                  </a:lnTo>
                  <a:cubicBezTo>
                    <a:pt x="227330" y="0"/>
                    <a:pt x="0" y="227330"/>
                    <a:pt x="0" y="508000"/>
                  </a:cubicBezTo>
                  <a:lnTo>
                    <a:pt x="0" y="5842000"/>
                  </a:lnTo>
                  <a:cubicBezTo>
                    <a:pt x="0" y="6122670"/>
                    <a:pt x="227330" y="6350000"/>
                    <a:pt x="508000" y="6350000"/>
                  </a:cubicBezTo>
                  <a:lnTo>
                    <a:pt x="2667000" y="6350000"/>
                  </a:lnTo>
                  <a:cubicBezTo>
                    <a:pt x="2947670" y="6350000"/>
                    <a:pt x="3175000" y="6122670"/>
                    <a:pt x="3175000" y="5842000"/>
                  </a:cubicBezTo>
                  <a:lnTo>
                    <a:pt x="3175000" y="508000"/>
                  </a:lnTo>
                  <a:cubicBezTo>
                    <a:pt x="3175000" y="227330"/>
                    <a:pt x="2947670" y="0"/>
                    <a:pt x="2667000" y="0"/>
                  </a:cubicBezTo>
                  <a:lnTo>
                    <a:pt x="2667000" y="0"/>
                  </a:lnTo>
                  <a:close/>
                </a:path>
              </a:pathLst>
            </a:custGeom>
            <a:solidFill>
              <a:srgbClr val="02020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08636" y="1798428"/>
            <a:ext cx="5782016" cy="880984"/>
            <a:chOff x="0" y="0"/>
            <a:chExt cx="1522836" cy="232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2836" cy="232029"/>
            </a:xfrm>
            <a:custGeom>
              <a:avLst/>
              <a:gdLst/>
              <a:ahLst/>
              <a:cxnLst/>
              <a:rect r="r" b="b" t="t" l="l"/>
              <a:pathLst>
                <a:path h="232029" w="1522836">
                  <a:moveTo>
                    <a:pt x="68287" y="0"/>
                  </a:moveTo>
                  <a:lnTo>
                    <a:pt x="1454548" y="0"/>
                  </a:lnTo>
                  <a:cubicBezTo>
                    <a:pt x="1472659" y="0"/>
                    <a:pt x="1490028" y="7195"/>
                    <a:pt x="1502835" y="20001"/>
                  </a:cubicBezTo>
                  <a:cubicBezTo>
                    <a:pt x="1515641" y="32807"/>
                    <a:pt x="1522836" y="50176"/>
                    <a:pt x="1522836" y="68287"/>
                  </a:cubicBezTo>
                  <a:lnTo>
                    <a:pt x="1522836" y="163742"/>
                  </a:lnTo>
                  <a:cubicBezTo>
                    <a:pt x="1522836" y="201456"/>
                    <a:pt x="1492262" y="232029"/>
                    <a:pt x="1454548" y="232029"/>
                  </a:cubicBezTo>
                  <a:lnTo>
                    <a:pt x="68287" y="232029"/>
                  </a:lnTo>
                  <a:cubicBezTo>
                    <a:pt x="50176" y="232029"/>
                    <a:pt x="32807" y="224834"/>
                    <a:pt x="20001" y="212028"/>
                  </a:cubicBezTo>
                  <a:cubicBezTo>
                    <a:pt x="7195" y="199222"/>
                    <a:pt x="0" y="181852"/>
                    <a:pt x="0" y="163742"/>
                  </a:cubicBezTo>
                  <a:lnTo>
                    <a:pt x="0" y="68287"/>
                  </a:lnTo>
                  <a:cubicBezTo>
                    <a:pt x="0" y="50176"/>
                    <a:pt x="7195" y="32807"/>
                    <a:pt x="20001" y="20001"/>
                  </a:cubicBezTo>
                  <a:cubicBezTo>
                    <a:pt x="32807" y="7195"/>
                    <a:pt x="50176" y="0"/>
                    <a:pt x="682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22836" cy="260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86205" y="3315153"/>
            <a:ext cx="5316506" cy="5316506"/>
            <a:chOff x="0" y="0"/>
            <a:chExt cx="7088675" cy="7088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88675" cy="7088675"/>
            </a:xfrm>
            <a:custGeom>
              <a:avLst/>
              <a:gdLst/>
              <a:ahLst/>
              <a:cxnLst/>
              <a:rect r="r" b="b" t="t" l="l"/>
              <a:pathLst>
                <a:path h="7088675" w="7088675">
                  <a:moveTo>
                    <a:pt x="0" y="0"/>
                  </a:moveTo>
                  <a:lnTo>
                    <a:pt x="7088675" y="0"/>
                  </a:lnTo>
                  <a:lnTo>
                    <a:pt x="7088675" y="7088675"/>
                  </a:lnTo>
                  <a:lnTo>
                    <a:pt x="0" y="708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74159" y="574159"/>
              <a:ext cx="5940357" cy="5940357"/>
            </a:xfrm>
            <a:custGeom>
              <a:avLst/>
              <a:gdLst/>
              <a:ahLst/>
              <a:cxnLst/>
              <a:rect r="r" b="b" t="t" l="l"/>
              <a:pathLst>
                <a:path h="5940357" w="5940357">
                  <a:moveTo>
                    <a:pt x="0" y="0"/>
                  </a:moveTo>
                  <a:lnTo>
                    <a:pt x="5940357" y="0"/>
                  </a:lnTo>
                  <a:lnTo>
                    <a:pt x="5940357" y="5940357"/>
                  </a:lnTo>
                  <a:lnTo>
                    <a:pt x="0" y="5940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029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5400000">
            <a:off x="14255074" y="7494862"/>
            <a:ext cx="1830661" cy="2003459"/>
          </a:xfrm>
          <a:custGeom>
            <a:avLst/>
            <a:gdLst/>
            <a:ahLst/>
            <a:cxnLst/>
            <a:rect r="r" b="b" t="t" l="l"/>
            <a:pathLst>
              <a:path h="2003459" w="1830661">
                <a:moveTo>
                  <a:pt x="0" y="0"/>
                </a:moveTo>
                <a:lnTo>
                  <a:pt x="1830661" y="0"/>
                </a:lnTo>
                <a:lnTo>
                  <a:pt x="1830661" y="2003460"/>
                </a:lnTo>
                <a:lnTo>
                  <a:pt x="0" y="20034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241126" y="5671476"/>
            <a:ext cx="3976380" cy="6561145"/>
            <a:chOff x="0" y="0"/>
            <a:chExt cx="5301840" cy="8748193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-521103">
              <a:off x="596802" y="268652"/>
              <a:ext cx="4108235" cy="8216471"/>
              <a:chOff x="0" y="0"/>
              <a:chExt cx="3175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6350000"/>
                    </a:moveTo>
                    <a:lnTo>
                      <a:pt x="508000" y="6350000"/>
                    </a:lnTo>
                    <a:cubicBezTo>
                      <a:pt x="227330" y="6350000"/>
                      <a:pt x="0" y="6122670"/>
                      <a:pt x="0" y="5842000"/>
                    </a:cubicBezTo>
                    <a:lnTo>
                      <a:pt x="0" y="508000"/>
                    </a:lnTo>
                    <a:cubicBezTo>
                      <a:pt x="0" y="227330"/>
                      <a:pt x="227330" y="0"/>
                      <a:pt x="508000" y="0"/>
                    </a:cubicBezTo>
                    <a:lnTo>
                      <a:pt x="2667000" y="0"/>
                    </a:lnTo>
                    <a:cubicBezTo>
                      <a:pt x="2947670" y="0"/>
                      <a:pt x="3175000" y="227330"/>
                      <a:pt x="3175000" y="508000"/>
                    </a:cubicBezTo>
                    <a:lnTo>
                      <a:pt x="3175000" y="5842000"/>
                    </a:lnTo>
                    <a:cubicBezTo>
                      <a:pt x="3175000" y="6122670"/>
                      <a:pt x="2947670" y="6350000"/>
                      <a:pt x="2667000" y="6350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19050"/>
                    </a:moveTo>
                    <a:cubicBezTo>
                      <a:pt x="2936240" y="19050"/>
                      <a:pt x="3155950" y="238760"/>
                      <a:pt x="3155950" y="508000"/>
                    </a:cubicBezTo>
                    <a:lnTo>
                      <a:pt x="3155950" y="5842000"/>
                    </a:lnTo>
                    <a:cubicBezTo>
                      <a:pt x="3155950" y="6111240"/>
                      <a:pt x="2936240" y="6330950"/>
                      <a:pt x="2667000" y="6330950"/>
                    </a:cubicBezTo>
                    <a:lnTo>
                      <a:pt x="508000" y="6330950"/>
                    </a:lnTo>
                    <a:cubicBezTo>
                      <a:pt x="238760" y="6330950"/>
                      <a:pt x="19050" y="6111240"/>
                      <a:pt x="19050" y="5842000"/>
                    </a:cubicBezTo>
                    <a:lnTo>
                      <a:pt x="19050" y="508000"/>
                    </a:lnTo>
                    <a:cubicBezTo>
                      <a:pt x="19050" y="238760"/>
                      <a:pt x="238760" y="19050"/>
                      <a:pt x="508000" y="19050"/>
                    </a:cubicBezTo>
                    <a:lnTo>
                      <a:pt x="2667000" y="19050"/>
                    </a:lnTo>
                    <a:moveTo>
                      <a:pt x="2667000" y="0"/>
                    </a:moveTo>
                    <a:lnTo>
                      <a:pt x="508000" y="0"/>
                    </a:lnTo>
                    <a:cubicBezTo>
                      <a:pt x="227330" y="0"/>
                      <a:pt x="0" y="227330"/>
                      <a:pt x="0" y="508000"/>
                    </a:cubicBezTo>
                    <a:lnTo>
                      <a:pt x="0" y="5842000"/>
                    </a:lnTo>
                    <a:cubicBezTo>
                      <a:pt x="0" y="6122670"/>
                      <a:pt x="227330" y="6350000"/>
                      <a:pt x="508000" y="6350000"/>
                    </a:cubicBezTo>
                    <a:lnTo>
                      <a:pt x="2667000" y="6350000"/>
                    </a:lnTo>
                    <a:cubicBezTo>
                      <a:pt x="2947670" y="6350000"/>
                      <a:pt x="3175000" y="6122670"/>
                      <a:pt x="3175000" y="5842000"/>
                    </a:cubicBezTo>
                    <a:lnTo>
                      <a:pt x="3175000" y="508000"/>
                    </a:lnTo>
                    <a:cubicBezTo>
                      <a:pt x="3175000" y="227330"/>
                      <a:pt x="2947670" y="0"/>
                      <a:pt x="2667000" y="0"/>
                    </a:cubicBezTo>
                    <a:lnTo>
                      <a:pt x="2667000" y="0"/>
                    </a:lnTo>
                    <a:close/>
                  </a:path>
                </a:pathLst>
              </a:custGeom>
              <a:solidFill>
                <a:srgbClr val="020202"/>
              </a:solidFill>
            </p:spPr>
          </p:sp>
        </p:grpSp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-521103">
              <a:off x="554836" y="244571"/>
              <a:ext cx="3819347" cy="7638694"/>
              <a:chOff x="0" y="0"/>
              <a:chExt cx="3175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6350000"/>
                    </a:moveTo>
                    <a:lnTo>
                      <a:pt x="508000" y="6350000"/>
                    </a:lnTo>
                    <a:cubicBezTo>
                      <a:pt x="227330" y="6350000"/>
                      <a:pt x="0" y="6122670"/>
                      <a:pt x="0" y="5842000"/>
                    </a:cubicBezTo>
                    <a:lnTo>
                      <a:pt x="0" y="508000"/>
                    </a:lnTo>
                    <a:cubicBezTo>
                      <a:pt x="0" y="227330"/>
                      <a:pt x="227330" y="0"/>
                      <a:pt x="508000" y="0"/>
                    </a:cubicBezTo>
                    <a:lnTo>
                      <a:pt x="2667000" y="0"/>
                    </a:lnTo>
                    <a:cubicBezTo>
                      <a:pt x="2947670" y="0"/>
                      <a:pt x="3175000" y="227330"/>
                      <a:pt x="3175000" y="508000"/>
                    </a:cubicBezTo>
                    <a:lnTo>
                      <a:pt x="3175000" y="5842000"/>
                    </a:lnTo>
                    <a:cubicBezTo>
                      <a:pt x="3175000" y="6122670"/>
                      <a:pt x="2947670" y="6350000"/>
                      <a:pt x="2667000" y="6350000"/>
                    </a:cubicBezTo>
                    <a:close/>
                  </a:path>
                </a:pathLst>
              </a:custGeom>
              <a:solidFill>
                <a:srgbClr val="FFD741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19050"/>
                    </a:moveTo>
                    <a:cubicBezTo>
                      <a:pt x="2936240" y="19050"/>
                      <a:pt x="3155950" y="238760"/>
                      <a:pt x="3155950" y="508000"/>
                    </a:cubicBezTo>
                    <a:lnTo>
                      <a:pt x="3155950" y="5842000"/>
                    </a:lnTo>
                    <a:cubicBezTo>
                      <a:pt x="3155950" y="6111240"/>
                      <a:pt x="2936240" y="6330950"/>
                      <a:pt x="2667000" y="6330950"/>
                    </a:cubicBezTo>
                    <a:lnTo>
                      <a:pt x="508000" y="6330950"/>
                    </a:lnTo>
                    <a:cubicBezTo>
                      <a:pt x="238760" y="6330950"/>
                      <a:pt x="19050" y="6111240"/>
                      <a:pt x="19050" y="5842000"/>
                    </a:cubicBezTo>
                    <a:lnTo>
                      <a:pt x="19050" y="508000"/>
                    </a:lnTo>
                    <a:cubicBezTo>
                      <a:pt x="19050" y="238760"/>
                      <a:pt x="238760" y="19050"/>
                      <a:pt x="508000" y="19050"/>
                    </a:cubicBezTo>
                    <a:lnTo>
                      <a:pt x="2667000" y="19050"/>
                    </a:lnTo>
                    <a:moveTo>
                      <a:pt x="2667000" y="0"/>
                    </a:moveTo>
                    <a:lnTo>
                      <a:pt x="508000" y="0"/>
                    </a:lnTo>
                    <a:cubicBezTo>
                      <a:pt x="227330" y="0"/>
                      <a:pt x="0" y="227330"/>
                      <a:pt x="0" y="508000"/>
                    </a:cubicBezTo>
                    <a:lnTo>
                      <a:pt x="0" y="5842000"/>
                    </a:lnTo>
                    <a:cubicBezTo>
                      <a:pt x="0" y="6122670"/>
                      <a:pt x="227330" y="6350000"/>
                      <a:pt x="508000" y="6350000"/>
                    </a:cubicBezTo>
                    <a:lnTo>
                      <a:pt x="2667000" y="6350000"/>
                    </a:lnTo>
                    <a:cubicBezTo>
                      <a:pt x="2947670" y="6350000"/>
                      <a:pt x="3175000" y="6122670"/>
                      <a:pt x="3175000" y="5842000"/>
                    </a:cubicBezTo>
                    <a:lnTo>
                      <a:pt x="3175000" y="508000"/>
                    </a:lnTo>
                    <a:cubicBezTo>
                      <a:pt x="3175000" y="227330"/>
                      <a:pt x="2947670" y="0"/>
                      <a:pt x="2667000" y="0"/>
                    </a:cubicBezTo>
                    <a:lnTo>
                      <a:pt x="2667000" y="0"/>
                    </a:lnTo>
                    <a:close/>
                  </a:path>
                </a:pathLst>
              </a:custGeom>
              <a:solidFill>
                <a:srgbClr val="020202"/>
              </a:solidFill>
            </p:spPr>
          </p:sp>
        </p:grpSp>
        <p:sp>
          <p:nvSpPr>
            <p:cNvPr name="Freeform 20" id="20"/>
            <p:cNvSpPr/>
            <p:nvPr/>
          </p:nvSpPr>
          <p:spPr>
            <a:xfrm flipH="false" flipV="false" rot="-521103">
              <a:off x="738480" y="2289266"/>
              <a:ext cx="3493253" cy="3493253"/>
            </a:xfrm>
            <a:custGeom>
              <a:avLst/>
              <a:gdLst/>
              <a:ahLst/>
              <a:cxnLst/>
              <a:rect r="r" b="b" t="t" l="l"/>
              <a:pathLst>
                <a:path h="3493253" w="3493253">
                  <a:moveTo>
                    <a:pt x="0" y="0"/>
                  </a:moveTo>
                  <a:lnTo>
                    <a:pt x="3493254" y="0"/>
                  </a:lnTo>
                  <a:lnTo>
                    <a:pt x="3493254" y="3493254"/>
                  </a:lnTo>
                  <a:lnTo>
                    <a:pt x="0" y="3493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31950" y="1524014"/>
              <a:ext cx="3243077" cy="312146"/>
            </a:xfrm>
            <a:custGeom>
              <a:avLst/>
              <a:gdLst/>
              <a:ahLst/>
              <a:cxnLst/>
              <a:rect r="r" b="b" t="t" l="l"/>
              <a:pathLst>
                <a:path h="312146" w="3243077">
                  <a:moveTo>
                    <a:pt x="0" y="0"/>
                  </a:moveTo>
                  <a:lnTo>
                    <a:pt x="3243077" y="0"/>
                  </a:lnTo>
                  <a:lnTo>
                    <a:pt x="3243077" y="312146"/>
                  </a:lnTo>
                  <a:lnTo>
                    <a:pt x="0" y="312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true" flipV="false" rot="-1898473">
            <a:off x="9085252" y="2321020"/>
            <a:ext cx="1062894" cy="1988265"/>
          </a:xfrm>
          <a:custGeom>
            <a:avLst/>
            <a:gdLst/>
            <a:ahLst/>
            <a:cxnLst/>
            <a:rect r="r" b="b" t="t" l="l"/>
            <a:pathLst>
              <a:path h="1988265" w="1062894">
                <a:moveTo>
                  <a:pt x="1062893" y="0"/>
                </a:moveTo>
                <a:lnTo>
                  <a:pt x="0" y="0"/>
                </a:lnTo>
                <a:lnTo>
                  <a:pt x="0" y="1988265"/>
                </a:lnTo>
                <a:lnTo>
                  <a:pt x="1062893" y="1988265"/>
                </a:lnTo>
                <a:lnTo>
                  <a:pt x="106289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376982" y="8744447"/>
            <a:ext cx="1334952" cy="1334952"/>
          </a:xfrm>
          <a:custGeom>
            <a:avLst/>
            <a:gdLst/>
            <a:ahLst/>
            <a:cxnLst/>
            <a:rect r="r" b="b" t="t" l="l"/>
            <a:pathLst>
              <a:path h="1334952" w="1334952">
                <a:moveTo>
                  <a:pt x="0" y="0"/>
                </a:moveTo>
                <a:lnTo>
                  <a:pt x="1334952" y="0"/>
                </a:lnTo>
                <a:lnTo>
                  <a:pt x="1334952" y="1334951"/>
                </a:lnTo>
                <a:lnTo>
                  <a:pt x="0" y="13349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590666" y="1958885"/>
            <a:ext cx="5099819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800" spc="-24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ESCANEA EL QR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943678"/>
            <a:ext cx="6867333" cy="32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F2BB19"/>
                </a:solidFill>
                <a:latin typeface="Avenir Bold"/>
                <a:ea typeface="Avenir Bold"/>
                <a:cs typeface="Avenir Bold"/>
                <a:sym typeface="Avenir Bold"/>
              </a:rPr>
              <a:t>SÉ PARTE</a:t>
            </a:r>
          </a:p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AHORRA YA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DAG5k-41Q2c</dc:identifier>
  <dcterms:modified xsi:type="dcterms:W3CDTF">2011-08-01T06:04:30Z</dcterms:modified>
  <cp:revision>1</cp:revision>
  <dc:title>PPT FINAL EXAMEN MYGOALFINANCE</dc:title>
</cp:coreProperties>
</file>